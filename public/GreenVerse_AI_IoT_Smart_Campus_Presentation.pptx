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A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731520"/>
            <a:ext cx="6217920" cy="5394960"/>
          </a:xfrm>
          <a:prstGeom prst="roundRect">
            <a:avLst/>
          </a:prstGeom>
          <a:solidFill>
            <a:srgbClr val="0E2A1F"/>
          </a:solidFill>
          <a:ln w="1905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1005840"/>
            <a:ext cx="56692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800" b="1">
                <a:solidFill>
                  <a:srgbClr val="00FF66"/>
                </a:solidFill>
                <a:latin typeface="Poppins"/>
              </a:defRPr>
            </a:pPr>
            <a:r>
              <a:t>🌿 GREENVERSE AI</a:t>
            </a:r>
          </a:p>
          <a:p>
            <a:pPr>
              <a:spcBef>
                <a:spcPts val="800"/>
              </a:spcBef>
              <a:defRPr sz="2200" b="1">
                <a:solidFill>
                  <a:srgbClr val="FFFFFF"/>
                </a:solidFill>
                <a:latin typeface="Poppins"/>
              </a:defRPr>
            </a:pPr>
            <a:r>
              <a:t>AI-IoT Smart Campus Sustainability System</a:t>
            </a:r>
          </a:p>
          <a:p>
            <a:pPr>
              <a:spcBef>
                <a:spcPts val="1000"/>
              </a:spcBef>
              <a:defRPr sz="1200">
                <a:solidFill>
                  <a:srgbClr val="B2DFDB"/>
                </a:solidFill>
                <a:latin typeface="Inter"/>
              </a:defRPr>
            </a:pPr>
            <a:r>
              <a:t>Empowering Educational Institutions with Artificial Intelligence, IoT Telemetry, GIS Mapping &amp; Renewable Energy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05840" y="4114800"/>
            <a:ext cx="2743200" cy="1645920"/>
          </a:xfrm>
          <a:prstGeom prst="roundRect">
            <a:avLst/>
          </a:prstGeom>
          <a:solidFill>
            <a:srgbClr val="0E2A1F"/>
          </a:solidFill>
          <a:ln w="19050">
            <a:solidFill>
              <a:srgbClr val="00C8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109728"/>
          <a:lstStyle/>
          <a:p>
            <a:pPr algn="ctr">
              <a:defRPr sz="900" b="1">
                <a:solidFill>
                  <a:srgbClr val="00E5FF"/>
                </a:solidFill>
              </a:defRPr>
            </a:pPr>
            <a:r>
              <a:t>INSTITUTION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SPNREC Araria (Bihar)</a:t>
            </a:r>
            <a:br/>
            <a:r>
              <a:t>BEU Patna Affiliated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931920" y="4114800"/>
            <a:ext cx="2743200" cy="1645920"/>
          </a:xfrm>
          <a:prstGeom prst="roundRect">
            <a:avLst/>
          </a:prstGeom>
          <a:solidFill>
            <a:srgbClr val="0E2A1F"/>
          </a:solidFill>
          <a:ln w="19050">
            <a:solidFill>
              <a:srgbClr val="00C8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109728"/>
          <a:lstStyle/>
          <a:p>
            <a:pPr algn="ctr">
              <a:defRPr sz="900" b="1">
                <a:solidFill>
                  <a:srgbClr val="00E5FF"/>
                </a:solidFill>
              </a:defRPr>
            </a:pPr>
            <a:r>
              <a:t>INTERNSHIP SPONSOR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1M1B Applied AI Initiative</a:t>
            </a:r>
            <a:br/>
            <a:r>
              <a:t>(Microsoft Supported)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0" y="731520"/>
            <a:ext cx="4297680" cy="5394960"/>
          </a:xfrm>
          <a:prstGeom prst="roundRect">
            <a:avLst/>
          </a:prstGeom>
          <a:solidFill>
            <a:srgbClr val="0E2A1F"/>
          </a:solidFill>
          <a:ln w="19050">
            <a:solidFill>
              <a:srgbClr val="00FF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3d_smart_campu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0" y="822960"/>
            <a:ext cx="4114800" cy="521208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A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Poppins"/>
              </a:defRPr>
            </a:pPr>
            <a:r>
              <a:t>PROBLEM STATEMENT</a:t>
            </a:r>
          </a:p>
          <a:p>
            <a:pPr>
              <a:spcBef>
                <a:spcPts val="400"/>
              </a:spcBef>
              <a:defRPr sz="1300">
                <a:solidFill>
                  <a:srgbClr val="00E5FF"/>
                </a:solidFill>
                <a:latin typeface="Inter"/>
              </a:defRPr>
            </a:pPr>
            <a:r>
              <a:t>Challenges Facing Modern Educational Campuses Today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2468880" cy="4389120"/>
          </a:xfrm>
          <a:prstGeom prst="roundRect">
            <a:avLst/>
          </a:prstGeom>
          <a:solidFill>
            <a:srgbClr val="0E2A1F"/>
          </a:solidFill>
          <a:ln w="19050">
            <a:solidFill>
              <a:srgbClr val="00C8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/>
          <a:lstStyle/>
          <a:p>
            <a:pPr algn="ctr">
              <a:defRPr sz="1600" b="1">
                <a:solidFill>
                  <a:srgbClr val="00FF66"/>
                </a:solidFill>
                <a:latin typeface="Poppins"/>
              </a:defRPr>
            </a:pPr>
            <a:r>
              <a:t>🗑️ Waste Management</a:t>
            </a:r>
          </a:p>
          <a:p>
            <a:pPr>
              <a:spcBef>
                <a:spcPts val="1400"/>
              </a:spcBef>
              <a:defRPr sz="1200">
                <a:solidFill>
                  <a:srgbClr val="B2DFDB"/>
                </a:solidFill>
                <a:latin typeface="Inter"/>
              </a:defRPr>
            </a:pPr>
            <a:r>
              <a:t>Manual bin inspections lead to overflow, littering, and unhygienic campus environments.</a:t>
            </a:r>
          </a:p>
          <a:p>
            <a:pPr>
              <a:spcBef>
                <a:spcPts val="2400"/>
              </a:spcBef>
              <a:defRPr sz="1800" b="1">
                <a:solidFill>
                  <a:srgbClr val="00E5FF"/>
                </a:solidFill>
                <a:latin typeface="Montserrat"/>
              </a:defRPr>
            </a:pPr>
            <a:r>
              <a:t>85% Overflow Rate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29000" y="1645920"/>
            <a:ext cx="2468880" cy="4389120"/>
          </a:xfrm>
          <a:prstGeom prst="roundRect">
            <a:avLst/>
          </a:prstGeom>
          <a:solidFill>
            <a:srgbClr val="0E2A1F"/>
          </a:solidFill>
          <a:ln w="19050">
            <a:solidFill>
              <a:srgbClr val="00C8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/>
          <a:lstStyle/>
          <a:p>
            <a:pPr algn="ctr">
              <a:defRPr sz="1600" b="1">
                <a:solidFill>
                  <a:srgbClr val="00FF66"/>
                </a:solidFill>
                <a:latin typeface="Poppins"/>
              </a:defRPr>
            </a:pPr>
            <a:r>
              <a:t>⚡ Energy Consumption</a:t>
            </a:r>
          </a:p>
          <a:p>
            <a:pPr>
              <a:spcBef>
                <a:spcPts val="1400"/>
              </a:spcBef>
              <a:defRPr sz="1200">
                <a:solidFill>
                  <a:srgbClr val="B2DFDB"/>
                </a:solidFill>
                <a:latin typeface="Inter"/>
              </a:defRPr>
            </a:pPr>
            <a:r>
              <a:t>Unmonitored HVAC and lighting lead to massive grid power waste and excess operational costs.</a:t>
            </a:r>
          </a:p>
          <a:p>
            <a:pPr>
              <a:spcBef>
                <a:spcPts val="2400"/>
              </a:spcBef>
              <a:defRPr sz="1800" b="1">
                <a:solidFill>
                  <a:srgbClr val="00E5FF"/>
                </a:solidFill>
                <a:latin typeface="Montserrat"/>
              </a:defRPr>
            </a:pPr>
            <a:r>
              <a:t>40% Power Wasted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26480" y="1645920"/>
            <a:ext cx="2468880" cy="4389120"/>
          </a:xfrm>
          <a:prstGeom prst="roundRect">
            <a:avLst/>
          </a:prstGeom>
          <a:solidFill>
            <a:srgbClr val="0E2A1F"/>
          </a:solidFill>
          <a:ln w="19050">
            <a:solidFill>
              <a:srgbClr val="00C8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/>
          <a:lstStyle/>
          <a:p>
            <a:pPr algn="ctr">
              <a:defRPr sz="1600" b="1">
                <a:solidFill>
                  <a:srgbClr val="00FF66"/>
                </a:solidFill>
                <a:latin typeface="Poppins"/>
              </a:defRPr>
            </a:pPr>
            <a:r>
              <a:t>💧 Water Wastage</a:t>
            </a:r>
          </a:p>
          <a:p>
            <a:pPr>
              <a:spcBef>
                <a:spcPts val="1400"/>
              </a:spcBef>
              <a:defRPr sz="1200">
                <a:solidFill>
                  <a:srgbClr val="B2DFDB"/>
                </a:solidFill>
                <a:latin typeface="Inter"/>
              </a:defRPr>
            </a:pPr>
            <a:r>
              <a:t>Undetected pipe leaks and overhead tank overflows waste thousands of liters daily.</a:t>
            </a:r>
          </a:p>
          <a:p>
            <a:pPr>
              <a:spcBef>
                <a:spcPts val="2400"/>
              </a:spcBef>
              <a:defRPr sz="1800" b="1">
                <a:solidFill>
                  <a:srgbClr val="00E5FF"/>
                </a:solidFill>
                <a:latin typeface="Montserrat"/>
              </a:defRPr>
            </a:pPr>
            <a:r>
              <a:t>45,000L Lost/Mo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823960" y="1645920"/>
            <a:ext cx="2468880" cy="4389120"/>
          </a:xfrm>
          <a:prstGeom prst="roundRect">
            <a:avLst/>
          </a:prstGeom>
          <a:solidFill>
            <a:srgbClr val="0E2A1F"/>
          </a:solidFill>
          <a:ln w="19050">
            <a:solidFill>
              <a:srgbClr val="00C8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/>
          <a:lstStyle/>
          <a:p>
            <a:pPr algn="ctr">
              <a:defRPr sz="1600" b="1">
                <a:solidFill>
                  <a:srgbClr val="00FF66"/>
                </a:solidFill>
                <a:latin typeface="Poppins"/>
              </a:defRPr>
            </a:pPr>
            <a:r>
              <a:t>🌿 Carbon Emissions</a:t>
            </a:r>
          </a:p>
          <a:p>
            <a:pPr>
              <a:spcBef>
                <a:spcPts val="1400"/>
              </a:spcBef>
              <a:defRPr sz="1200">
                <a:solidFill>
                  <a:srgbClr val="B2DFDB"/>
                </a:solidFill>
                <a:latin typeface="Inter"/>
              </a:defRPr>
            </a:pPr>
            <a:r>
              <a:t>High reliance on non-renewable grid energy increases campus carbon footprints.</a:t>
            </a:r>
          </a:p>
          <a:p>
            <a:pPr>
              <a:spcBef>
                <a:spcPts val="2400"/>
              </a:spcBef>
              <a:defRPr sz="1800" b="1">
                <a:solidFill>
                  <a:srgbClr val="00E5FF"/>
                </a:solidFill>
                <a:latin typeface="Montserrat"/>
              </a:defRPr>
            </a:pPr>
            <a:r>
              <a:t>High ESG Deficit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A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Poppins"/>
              </a:defRPr>
            </a:pPr>
            <a:r>
              <a:t>OUR SOLUTION: GREENVERSE PLATFORM</a:t>
            </a:r>
          </a:p>
          <a:p>
            <a:pPr>
              <a:spcBef>
                <a:spcPts val="400"/>
              </a:spcBef>
              <a:defRPr sz="1300">
                <a:solidFill>
                  <a:srgbClr val="00E5FF"/>
                </a:solidFill>
                <a:latin typeface="Inter"/>
              </a:defRPr>
            </a:pPr>
            <a:r>
              <a:t>Central AI-IoT Core Connecting Campus Infrastructure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389120" y="1645920"/>
            <a:ext cx="3383280" cy="4572000"/>
          </a:xfrm>
          <a:prstGeom prst="roundRect">
            <a:avLst/>
          </a:prstGeom>
          <a:solidFill>
            <a:srgbClr val="0E2A1F"/>
          </a:solidFill>
          <a:ln w="19050">
            <a:solidFill>
              <a:srgbClr val="00FF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2286000"/>
          <a:lstStyle/>
          <a:p>
            <a:pPr algn="ctr">
              <a:defRPr sz="1500" b="1">
                <a:solidFill>
                  <a:srgbClr val="00FF66"/>
                </a:solidFill>
                <a:latin typeface="Poppins"/>
              </a:defRPr>
            </a:pPr>
            <a:r>
              <a:t>🤖 GREENVERSE AI ENGINE</a:t>
            </a:r>
          </a:p>
          <a:p>
            <a:pPr>
              <a:spcBef>
                <a:spcPts val="600"/>
              </a:spcBef>
              <a:defRPr sz="1100">
                <a:solidFill>
                  <a:srgbClr val="FFFFFF"/>
                </a:solidFill>
                <a:latin typeface="Inter"/>
              </a:defRPr>
            </a:pPr>
            <a:r>
              <a:t>• Google Gemini AI Analysis</a:t>
            </a:r>
            <a:br/>
            <a:r>
              <a:t>• Realtime Sensor Streams</a:t>
            </a:r>
            <a:br/>
            <a:r>
              <a:t>• Auto Defect Work Orders</a:t>
            </a:r>
            <a:br/>
            <a:r>
              <a:t>• Carbon Offset Audit</a:t>
            </a:r>
          </a:p>
        </p:txBody>
      </p:sp>
      <p:pic>
        <p:nvPicPr>
          <p:cNvPr id="4" name="Picture 3" descr="3d_ai_brai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0560" y="1737360"/>
            <a:ext cx="3200400" cy="201168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31520" y="1645920"/>
            <a:ext cx="3200400" cy="2194560"/>
          </a:xfrm>
          <a:prstGeom prst="roundRect">
            <a:avLst/>
          </a:prstGeom>
          <a:solidFill>
            <a:srgbClr val="0E2A1F"/>
          </a:solidFill>
          <a:ln w="19050">
            <a:solidFill>
              <a:srgbClr val="00C8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/>
          <a:lstStyle/>
          <a:p>
            <a:pPr algn="ctr">
              <a:defRPr sz="1600" b="1">
                <a:solidFill>
                  <a:srgbClr val="00E5FF"/>
                </a:solidFill>
                <a:latin typeface="Poppins"/>
              </a:defRPr>
            </a:pPr>
            <a:r>
              <a:t>🗑️ Smart Bins</a:t>
            </a:r>
          </a:p>
          <a:p>
            <a:pPr>
              <a:spcBef>
                <a:spcPts val="800"/>
              </a:spcBef>
              <a:defRPr sz="1100">
                <a:solidFill>
                  <a:srgbClr val="B2DFDB"/>
                </a:solidFill>
              </a:defRPr>
            </a:pPr>
            <a:r>
              <a:t>Connected via ESP32 WiFi Mesh</a:t>
            </a:r>
            <a:br/>
            <a:r>
              <a:t>Streaming live telemetry data 24/7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023360"/>
            <a:ext cx="3200400" cy="2194560"/>
          </a:xfrm>
          <a:prstGeom prst="roundRect">
            <a:avLst/>
          </a:prstGeom>
          <a:solidFill>
            <a:srgbClr val="0E2A1F"/>
          </a:solidFill>
          <a:ln w="19050">
            <a:solidFill>
              <a:srgbClr val="00C8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/>
          <a:lstStyle/>
          <a:p>
            <a:pPr algn="ctr">
              <a:defRPr sz="1600" b="1">
                <a:solidFill>
                  <a:srgbClr val="00E5FF"/>
                </a:solidFill>
                <a:latin typeface="Poppins"/>
              </a:defRPr>
            </a:pPr>
            <a:r>
              <a:t>💧 Water Tanks</a:t>
            </a:r>
          </a:p>
          <a:p>
            <a:pPr>
              <a:spcBef>
                <a:spcPts val="800"/>
              </a:spcBef>
              <a:defRPr sz="1100">
                <a:solidFill>
                  <a:srgbClr val="B2DFDB"/>
                </a:solidFill>
              </a:defRPr>
            </a:pPr>
            <a:r>
              <a:t>Connected via ESP32 WiFi Mesh</a:t>
            </a:r>
            <a:br/>
            <a:r>
              <a:t>Streaming live telemetry data 24/7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645920"/>
            <a:ext cx="3200400" cy="2194560"/>
          </a:xfrm>
          <a:prstGeom prst="roundRect">
            <a:avLst/>
          </a:prstGeom>
          <a:solidFill>
            <a:srgbClr val="0E2A1F"/>
          </a:solidFill>
          <a:ln w="19050">
            <a:solidFill>
              <a:srgbClr val="00C8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/>
          <a:lstStyle/>
          <a:p>
            <a:pPr algn="ctr">
              <a:defRPr sz="1600" b="1">
                <a:solidFill>
                  <a:srgbClr val="00E5FF"/>
                </a:solidFill>
                <a:latin typeface="Poppins"/>
              </a:defRPr>
            </a:pPr>
            <a:r>
              <a:t>⚡ 250kW Solar</a:t>
            </a:r>
          </a:p>
          <a:p>
            <a:pPr>
              <a:spcBef>
                <a:spcPts val="800"/>
              </a:spcBef>
              <a:defRPr sz="1100">
                <a:solidFill>
                  <a:srgbClr val="B2DFDB"/>
                </a:solidFill>
              </a:defRPr>
            </a:pPr>
            <a:r>
              <a:t>Connected via ESP32 WiFi Mesh</a:t>
            </a:r>
            <a:br/>
            <a:r>
              <a:t>Streaming live telemetry data 24/7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4023360"/>
            <a:ext cx="3200400" cy="2194560"/>
          </a:xfrm>
          <a:prstGeom prst="roundRect">
            <a:avLst/>
          </a:prstGeom>
          <a:solidFill>
            <a:srgbClr val="0E2A1F"/>
          </a:solidFill>
          <a:ln w="19050">
            <a:solidFill>
              <a:srgbClr val="00C8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/>
          <a:lstStyle/>
          <a:p>
            <a:pPr algn="ctr">
              <a:defRPr sz="1600" b="1">
                <a:solidFill>
                  <a:srgbClr val="00E5FF"/>
                </a:solidFill>
                <a:latin typeface="Poppins"/>
              </a:defRPr>
            </a:pPr>
            <a:r>
              <a:t>📍 GIS Campus Map</a:t>
            </a:r>
          </a:p>
          <a:p>
            <a:pPr>
              <a:spcBef>
                <a:spcPts val="800"/>
              </a:spcBef>
              <a:defRPr sz="1100">
                <a:solidFill>
                  <a:srgbClr val="B2DFDB"/>
                </a:solidFill>
              </a:defRPr>
            </a:pPr>
            <a:r>
              <a:t>Connected via ESP32 WiFi Mesh</a:t>
            </a:r>
            <a:br/>
            <a:r>
              <a:t>Streaming live telemetry data 24/7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A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Poppins"/>
              </a:defRPr>
            </a:pPr>
            <a:r>
              <a:t>SYSTEM ARCHITECTURE FLOW</a:t>
            </a:r>
          </a:p>
          <a:p>
            <a:pPr>
              <a:spcBef>
                <a:spcPts val="400"/>
              </a:spcBef>
              <a:defRPr sz="1300">
                <a:solidFill>
                  <a:srgbClr val="00E5FF"/>
                </a:solidFill>
                <a:latin typeface="Inter"/>
              </a:defRPr>
            </a:pPr>
            <a:r>
              <a:t>End-to-End Data Pipeline from Hardware Sensors to Executive Control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3291840" cy="4389120"/>
          </a:xfrm>
          <a:prstGeom prst="roundRect">
            <a:avLst/>
          </a:prstGeom>
          <a:solidFill>
            <a:srgbClr val="0E2A1F"/>
          </a:solidFill>
          <a:ln w="1905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3d_iot_sensor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737360"/>
            <a:ext cx="3108960" cy="420624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4297680" y="1645920"/>
            <a:ext cx="2194560" cy="2011680"/>
          </a:xfrm>
          <a:prstGeom prst="roundRect">
            <a:avLst/>
          </a:prstGeom>
          <a:solidFill>
            <a:srgbClr val="0E2A1F"/>
          </a:solidFill>
          <a:ln w="19050">
            <a:solidFill>
              <a:srgbClr val="00C8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37160"/>
          <a:lstStyle/>
          <a:p>
            <a:pPr algn="ctr">
              <a:defRPr sz="1400" b="1">
                <a:solidFill>
                  <a:srgbClr val="00FF66"/>
                </a:solidFill>
                <a:latin typeface="Poppins"/>
              </a:defRPr>
            </a:pPr>
            <a:r>
              <a:t>1. IoT Sensors</a:t>
            </a:r>
          </a:p>
          <a:p>
            <a:pPr>
              <a:spcBef>
                <a:spcPts val="800"/>
              </a:spcBef>
              <a:defRPr sz="1100">
                <a:solidFill>
                  <a:srgbClr val="FFFFFF"/>
                </a:solidFill>
                <a:latin typeface="Inter"/>
              </a:defRPr>
            </a:pPr>
            <a:r>
              <a:t>Smart Bins, Water Pressure, Solar Meter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75120" y="1645920"/>
            <a:ext cx="2194560" cy="2011680"/>
          </a:xfrm>
          <a:prstGeom prst="roundRect">
            <a:avLst/>
          </a:prstGeom>
          <a:solidFill>
            <a:srgbClr val="0E2A1F"/>
          </a:solidFill>
          <a:ln w="19050">
            <a:solidFill>
              <a:srgbClr val="00C8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37160"/>
          <a:lstStyle/>
          <a:p>
            <a:pPr algn="ctr">
              <a:defRPr sz="1400" b="1">
                <a:solidFill>
                  <a:srgbClr val="00FF66"/>
                </a:solidFill>
                <a:latin typeface="Poppins"/>
              </a:defRPr>
            </a:pPr>
            <a:r>
              <a:t>2. ESP32 Edge</a:t>
            </a:r>
          </a:p>
          <a:p>
            <a:pPr>
              <a:spcBef>
                <a:spcPts val="800"/>
              </a:spcBef>
              <a:defRPr sz="1100">
                <a:solidFill>
                  <a:srgbClr val="FFFFFF"/>
                </a:solidFill>
                <a:latin typeface="Inter"/>
              </a:defRPr>
            </a:pPr>
            <a:r>
              <a:t>Microcontroller Data Processing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052560" y="1645920"/>
            <a:ext cx="2194560" cy="2011680"/>
          </a:xfrm>
          <a:prstGeom prst="roundRect">
            <a:avLst/>
          </a:prstGeom>
          <a:solidFill>
            <a:srgbClr val="0E2A1F"/>
          </a:solidFill>
          <a:ln w="19050">
            <a:solidFill>
              <a:srgbClr val="00C8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37160"/>
          <a:lstStyle/>
          <a:p>
            <a:pPr algn="ctr">
              <a:defRPr sz="1400" b="1">
                <a:solidFill>
                  <a:srgbClr val="00FF66"/>
                </a:solidFill>
                <a:latin typeface="Poppins"/>
              </a:defRPr>
            </a:pPr>
            <a:r>
              <a:t>3. WiFi Gateway</a:t>
            </a:r>
          </a:p>
          <a:p>
            <a:pPr>
              <a:spcBef>
                <a:spcPts val="800"/>
              </a:spcBef>
              <a:defRPr sz="1100">
                <a:solidFill>
                  <a:srgbClr val="FFFFFF"/>
                </a:solidFill>
                <a:latin typeface="Inter"/>
              </a:defRPr>
            </a:pPr>
            <a:r>
              <a:t>Encrypted Telemetry Transmission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3931920"/>
            <a:ext cx="2194560" cy="2011680"/>
          </a:xfrm>
          <a:prstGeom prst="roundRect">
            <a:avLst/>
          </a:prstGeom>
          <a:solidFill>
            <a:srgbClr val="0E2A1F"/>
          </a:solidFill>
          <a:ln w="19050">
            <a:solidFill>
              <a:srgbClr val="00C8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37160"/>
          <a:lstStyle/>
          <a:p>
            <a:pPr algn="ctr">
              <a:defRPr sz="1400" b="1">
                <a:solidFill>
                  <a:srgbClr val="00FF66"/>
                </a:solidFill>
                <a:latin typeface="Poppins"/>
              </a:defRPr>
            </a:pPr>
            <a:r>
              <a:t>4. Firebase/Supabase</a:t>
            </a:r>
          </a:p>
          <a:p>
            <a:pPr>
              <a:spcBef>
                <a:spcPts val="800"/>
              </a:spcBef>
              <a:defRPr sz="1100">
                <a:solidFill>
                  <a:srgbClr val="FFFFFF"/>
                </a:solidFill>
                <a:latin typeface="Inter"/>
              </a:defRPr>
            </a:pPr>
            <a:r>
              <a:t>Realtime Database &amp; Webhooks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5120" y="3931920"/>
            <a:ext cx="2194560" cy="2011680"/>
          </a:xfrm>
          <a:prstGeom prst="roundRect">
            <a:avLst/>
          </a:prstGeom>
          <a:solidFill>
            <a:srgbClr val="0E2A1F"/>
          </a:solidFill>
          <a:ln w="19050">
            <a:solidFill>
              <a:srgbClr val="00C8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37160"/>
          <a:lstStyle/>
          <a:p>
            <a:pPr algn="ctr">
              <a:defRPr sz="1400" b="1">
                <a:solidFill>
                  <a:srgbClr val="00FF66"/>
                </a:solidFill>
                <a:latin typeface="Poppins"/>
              </a:defRPr>
            </a:pPr>
            <a:r>
              <a:t>5. Gemini AI</a:t>
            </a:r>
          </a:p>
          <a:p>
            <a:pPr>
              <a:spcBef>
                <a:spcPts val="800"/>
              </a:spcBef>
              <a:defRPr sz="1100">
                <a:solidFill>
                  <a:srgbClr val="FFFFFF"/>
                </a:solidFill>
                <a:latin typeface="Inter"/>
              </a:defRPr>
            </a:pPr>
            <a:r>
              <a:t>Defect Scanning &amp; Predictive Engine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052560" y="3931920"/>
            <a:ext cx="2194560" cy="2011680"/>
          </a:xfrm>
          <a:prstGeom prst="roundRect">
            <a:avLst/>
          </a:prstGeom>
          <a:solidFill>
            <a:srgbClr val="0E2A1F"/>
          </a:solidFill>
          <a:ln w="19050">
            <a:solidFill>
              <a:srgbClr val="00C8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37160"/>
          <a:lstStyle/>
          <a:p>
            <a:pPr algn="ctr">
              <a:defRPr sz="1400" b="1">
                <a:solidFill>
                  <a:srgbClr val="00FF66"/>
                </a:solidFill>
                <a:latin typeface="Poppins"/>
              </a:defRPr>
            </a:pPr>
            <a:r>
              <a:t>6. Control Center</a:t>
            </a:r>
          </a:p>
          <a:p>
            <a:pPr>
              <a:spcBef>
                <a:spcPts val="800"/>
              </a:spcBef>
              <a:defRPr sz="1100">
                <a:solidFill>
                  <a:srgbClr val="FFFFFF"/>
                </a:solidFill>
                <a:latin typeface="Inter"/>
              </a:defRPr>
            </a:pPr>
            <a:r>
              <a:t>Admin &amp; Staff Dispatch Dashboard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A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Poppins"/>
              </a:defRPr>
            </a:pPr>
            <a:r>
              <a:t>WORKING PROTOTYPE SHOWCASE</a:t>
            </a:r>
          </a:p>
          <a:p>
            <a:pPr>
              <a:spcBef>
                <a:spcPts val="400"/>
              </a:spcBef>
              <a:defRPr sz="1300">
                <a:solidFill>
                  <a:srgbClr val="00E5FF"/>
                </a:solidFill>
                <a:latin typeface="Inter"/>
              </a:defRPr>
            </a:pPr>
            <a:r>
              <a:t>Multi-Device Responsive Interface &amp; Real-Time GIS Radar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5212080" cy="4389120"/>
          </a:xfrm>
          <a:prstGeom prst="roundRect">
            <a:avLst/>
          </a:prstGeom>
          <a:solidFill>
            <a:srgbClr val="0E2A1F"/>
          </a:solidFill>
          <a:ln w="19050">
            <a:solidFill>
              <a:srgbClr val="00C8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/>
          <a:lstStyle/>
          <a:p>
            <a:pPr algn="ctr">
              <a:defRPr sz="1800" b="1">
                <a:solidFill>
                  <a:srgbClr val="00FF66"/>
                </a:solidFill>
              </a:defRPr>
            </a:pPr>
            <a:r>
              <a:t>💻 Desktop Executive Portal</a:t>
            </a:r>
          </a:p>
          <a:p>
            <a:pPr>
              <a:spcBef>
                <a:spcPts val="1400"/>
              </a:spcBef>
              <a:defRPr sz="1300">
                <a:solidFill>
                  <a:srgbClr val="FFFFFF"/>
                </a:solidFill>
              </a:defRPr>
            </a:pPr>
            <a:r>
              <a:t>• Live GIS Campus Map with Leaflet</a:t>
            </a:r>
            <a:br/>
            <a:r>
              <a:t>• 13 Liquid Glass Feature Cards</a:t>
            </a:r>
            <a:br/>
            <a:r>
              <a:t>• Active Technician GPS Dispatching</a:t>
            </a:r>
            <a:br/>
            <a:r>
              <a:t>• Real-Time Sensor Alert Overlays</a:t>
            </a:r>
            <a:br/>
            <a:r>
              <a:t>• Carbon Reduction ESG Audits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0" y="1645920"/>
            <a:ext cx="5212080" cy="4389120"/>
          </a:xfrm>
          <a:prstGeom prst="roundRect">
            <a:avLst/>
          </a:prstGeom>
          <a:solidFill>
            <a:srgbClr val="0E2A1F"/>
          </a:solidFill>
          <a:ln w="19050">
            <a:solidFill>
              <a:srgbClr val="00C8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/>
          <a:lstStyle/>
          <a:p>
            <a:pPr algn="ctr">
              <a:defRPr sz="1800" b="1">
                <a:solidFill>
                  <a:srgbClr val="00E5FF"/>
                </a:solidFill>
              </a:defRPr>
            </a:pPr>
            <a:r>
              <a:t>📱 Mobile Student &amp; Staff App</a:t>
            </a:r>
          </a:p>
          <a:p>
            <a:pPr>
              <a:spcBef>
                <a:spcPts val="1400"/>
              </a:spcBef>
              <a:defRPr sz="1300">
                <a:solidFill>
                  <a:srgbClr val="FFFFFF"/>
                </a:solidFill>
              </a:defRPr>
            </a:pPr>
            <a:r>
              <a:t>• Instant Photo &amp; Audio Issue Reporting</a:t>
            </a:r>
            <a:br/>
            <a:r>
              <a:t>• Gemini AI Automatic Bounding Box Vision Scan</a:t>
            </a:r>
            <a:br/>
            <a:r>
              <a:t>• +50 Eco-Points Reward Leaderboard</a:t>
            </a:r>
            <a:br/>
            <a:r>
              <a:t>• GreenBot Voice Speech Assistant</a:t>
            </a:r>
            <a:br/>
            <a:r>
              <a:t>• Work Order Repair Photo Verification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A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Poppins"/>
              </a:defRPr>
            </a:pPr>
            <a:r>
              <a:t>TECHNOLOGY STACK ARCHITECTURE</a:t>
            </a:r>
          </a:p>
          <a:p>
            <a:pPr>
              <a:spcBef>
                <a:spcPts val="400"/>
              </a:spcBef>
              <a:defRPr sz="1300">
                <a:solidFill>
                  <a:srgbClr val="00E5FF"/>
                </a:solidFill>
                <a:latin typeface="Inter"/>
              </a:defRPr>
            </a:pPr>
            <a:r>
              <a:t>Enterprise Software, Hardware &amp; Cloud Infrastructure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5212080" cy="2011680"/>
          </a:xfrm>
          <a:prstGeom prst="roundRect">
            <a:avLst/>
          </a:prstGeom>
          <a:solidFill>
            <a:srgbClr val="0E2A1F"/>
          </a:solidFill>
          <a:ln w="19050">
            <a:solidFill>
              <a:srgbClr val="00C8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/>
          <a:lstStyle/>
          <a:p>
            <a:pPr algn="ctr">
              <a:defRPr sz="1800" b="1">
                <a:solidFill>
                  <a:srgbClr val="00E5FF"/>
                </a:solidFill>
                <a:latin typeface="Poppins"/>
              </a:defRPr>
            </a:pPr>
            <a:r>
              <a:t>Frontend UI</a:t>
            </a:r>
          </a:p>
          <a:p>
            <a:pPr>
              <a:spcBef>
                <a:spcPts val="1000"/>
              </a:spcBef>
              <a:defRPr sz="1300">
                <a:solidFill>
                  <a:srgbClr val="FFFFFF"/>
                </a:solidFill>
                <a:latin typeface="Inter"/>
              </a:defRPr>
            </a:pPr>
            <a:r>
              <a:t>React 19, Vite 8, Tailwind CSS v4, Framer Motion, Leaflet GIS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0" y="1645920"/>
            <a:ext cx="5212080" cy="2011680"/>
          </a:xfrm>
          <a:prstGeom prst="roundRect">
            <a:avLst/>
          </a:prstGeom>
          <a:solidFill>
            <a:srgbClr val="0E2A1F"/>
          </a:solidFill>
          <a:ln w="19050">
            <a:solidFill>
              <a:srgbClr val="00C8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/>
          <a:lstStyle/>
          <a:p>
            <a:pPr algn="ctr">
              <a:defRPr sz="1800" b="1">
                <a:solidFill>
                  <a:srgbClr val="00E5FF"/>
                </a:solidFill>
                <a:latin typeface="Poppins"/>
              </a:defRPr>
            </a:pPr>
            <a:r>
              <a:t>Backend &amp; Database</a:t>
            </a:r>
          </a:p>
          <a:p>
            <a:pPr>
              <a:spcBef>
                <a:spcPts val="1000"/>
              </a:spcBef>
              <a:defRPr sz="1300">
                <a:solidFill>
                  <a:srgbClr val="FFFFFF"/>
                </a:solidFill>
                <a:latin typeface="Inter"/>
              </a:defRPr>
            </a:pPr>
            <a:r>
              <a:t>Node.js, Supabase PostgreSQL, Realtime WebSockets, RLS Security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4023360"/>
            <a:ext cx="5212080" cy="2011680"/>
          </a:xfrm>
          <a:prstGeom prst="roundRect">
            <a:avLst/>
          </a:prstGeom>
          <a:solidFill>
            <a:srgbClr val="0E2A1F"/>
          </a:solidFill>
          <a:ln w="19050">
            <a:solidFill>
              <a:srgbClr val="00C8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/>
          <a:lstStyle/>
          <a:p>
            <a:pPr algn="ctr">
              <a:defRPr sz="1800" b="1">
                <a:solidFill>
                  <a:srgbClr val="00E5FF"/>
                </a:solidFill>
                <a:latin typeface="Poppins"/>
              </a:defRPr>
            </a:pPr>
            <a:r>
              <a:t>AI &amp; Machine Learning</a:t>
            </a:r>
          </a:p>
          <a:p>
            <a:pPr>
              <a:spcBef>
                <a:spcPts val="1000"/>
              </a:spcBef>
              <a:defRPr sz="1300">
                <a:solidFill>
                  <a:srgbClr val="FFFFFF"/>
                </a:solidFill>
                <a:latin typeface="Inter"/>
              </a:defRPr>
            </a:pPr>
            <a:r>
              <a:t>Google Gemini AI, Computer Vision Defect Bounding Box Model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4023360"/>
            <a:ext cx="5212080" cy="2011680"/>
          </a:xfrm>
          <a:prstGeom prst="roundRect">
            <a:avLst/>
          </a:prstGeom>
          <a:solidFill>
            <a:srgbClr val="0E2A1F"/>
          </a:solidFill>
          <a:ln w="19050">
            <a:solidFill>
              <a:srgbClr val="00C8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/>
          <a:lstStyle/>
          <a:p>
            <a:pPr algn="ctr">
              <a:defRPr sz="1800" b="1">
                <a:solidFill>
                  <a:srgbClr val="00E5FF"/>
                </a:solidFill>
                <a:latin typeface="Poppins"/>
              </a:defRPr>
            </a:pPr>
            <a:r>
              <a:t>Hardware &amp; IoT</a:t>
            </a:r>
          </a:p>
          <a:p>
            <a:pPr>
              <a:spcBef>
                <a:spcPts val="1000"/>
              </a:spcBef>
              <a:defRPr sz="1300">
                <a:solidFill>
                  <a:srgbClr val="FFFFFF"/>
                </a:solidFill>
                <a:latin typeface="Inter"/>
              </a:defRPr>
            </a:pPr>
            <a:r>
              <a:t>ESP32 Microcontrollers, Ultrasonic Waste Sensors, Flow Telemetry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A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Poppins"/>
              </a:defRPr>
            </a:pPr>
            <a:r>
              <a:t>10 CORE PLATFORM FEATURES</a:t>
            </a:r>
          </a:p>
          <a:p>
            <a:pPr>
              <a:spcBef>
                <a:spcPts val="400"/>
              </a:spcBef>
              <a:defRPr sz="1300">
                <a:solidFill>
                  <a:srgbClr val="00E5FF"/>
                </a:solidFill>
                <a:latin typeface="Inter"/>
              </a:defRPr>
            </a:pPr>
            <a:r>
              <a:t>Integrated Modules Powering Smart Campus Operations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2011680" cy="2011680"/>
          </a:xfrm>
          <a:prstGeom prst="roundRect">
            <a:avLst/>
          </a:prstGeom>
          <a:solidFill>
            <a:srgbClr val="0E2A1F"/>
          </a:solidFill>
          <a:ln w="19050">
            <a:solidFill>
              <a:srgbClr val="00C8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37160"/>
          <a:lstStyle/>
          <a:p>
            <a:pPr algn="ctr">
              <a:defRPr sz="1300" b="1">
                <a:solidFill>
                  <a:srgbClr val="00FF66"/>
                </a:solidFill>
                <a:latin typeface="Poppins"/>
              </a:defRPr>
            </a:pPr>
            <a:r>
              <a:t>1. Smart Waste Monitoring</a:t>
            </a:r>
          </a:p>
          <a:p>
            <a:pPr>
              <a:spcBef>
                <a:spcPts val="800"/>
              </a:spcBef>
              <a:defRPr sz="1000">
                <a:solidFill>
                  <a:srgbClr val="B2DFDB"/>
                </a:solidFill>
              </a:defRPr>
            </a:pPr>
            <a:r>
              <a:t>Operational &amp; Active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907791" y="1645920"/>
            <a:ext cx="2011680" cy="2011680"/>
          </a:xfrm>
          <a:prstGeom prst="roundRect">
            <a:avLst/>
          </a:prstGeom>
          <a:solidFill>
            <a:srgbClr val="0E2A1F"/>
          </a:solidFill>
          <a:ln w="19050">
            <a:solidFill>
              <a:srgbClr val="00C8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37160"/>
          <a:lstStyle/>
          <a:p>
            <a:pPr algn="ctr">
              <a:defRPr sz="1300" b="1">
                <a:solidFill>
                  <a:srgbClr val="00FF66"/>
                </a:solidFill>
                <a:latin typeface="Poppins"/>
              </a:defRPr>
            </a:pPr>
            <a:r>
              <a:t>2. Smart Water Monitoring</a:t>
            </a:r>
          </a:p>
          <a:p>
            <a:pPr>
              <a:spcBef>
                <a:spcPts val="800"/>
              </a:spcBef>
              <a:defRPr sz="1000">
                <a:solidFill>
                  <a:srgbClr val="B2DFDB"/>
                </a:solidFill>
              </a:defRPr>
            </a:pPr>
            <a:r>
              <a:t>Operational &amp; Active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84064" y="1645920"/>
            <a:ext cx="2011680" cy="2011680"/>
          </a:xfrm>
          <a:prstGeom prst="roundRect">
            <a:avLst/>
          </a:prstGeom>
          <a:solidFill>
            <a:srgbClr val="0E2A1F"/>
          </a:solidFill>
          <a:ln w="19050">
            <a:solidFill>
              <a:srgbClr val="00C8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37160"/>
          <a:lstStyle/>
          <a:p>
            <a:pPr algn="ctr">
              <a:defRPr sz="1300" b="1">
                <a:solidFill>
                  <a:srgbClr val="00FF66"/>
                </a:solidFill>
                <a:latin typeface="Poppins"/>
              </a:defRPr>
            </a:pPr>
            <a:r>
              <a:t>3. Solar Grid Telemetry</a:t>
            </a:r>
          </a:p>
          <a:p>
            <a:pPr>
              <a:spcBef>
                <a:spcPts val="800"/>
              </a:spcBef>
              <a:defRPr sz="1000">
                <a:solidFill>
                  <a:srgbClr val="B2DFDB"/>
                </a:solidFill>
              </a:defRPr>
            </a:pPr>
            <a:r>
              <a:t>Operational &amp; Active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260336" y="1645920"/>
            <a:ext cx="2011680" cy="2011680"/>
          </a:xfrm>
          <a:prstGeom prst="roundRect">
            <a:avLst/>
          </a:prstGeom>
          <a:solidFill>
            <a:srgbClr val="0E2A1F"/>
          </a:solidFill>
          <a:ln w="19050">
            <a:solidFill>
              <a:srgbClr val="00C8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37160"/>
          <a:lstStyle/>
          <a:p>
            <a:pPr algn="ctr">
              <a:defRPr sz="1300" b="1">
                <a:solidFill>
                  <a:srgbClr val="00FF66"/>
                </a:solidFill>
                <a:latin typeface="Poppins"/>
              </a:defRPr>
            </a:pPr>
            <a:r>
              <a:t>4. GIS Campus Radar Map</a:t>
            </a:r>
          </a:p>
          <a:p>
            <a:pPr>
              <a:spcBef>
                <a:spcPts val="800"/>
              </a:spcBef>
              <a:defRPr sz="1000">
                <a:solidFill>
                  <a:srgbClr val="B2DFDB"/>
                </a:solidFill>
              </a:defRPr>
            </a:pPr>
            <a:r>
              <a:t>Operational &amp; Active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436608" y="1645920"/>
            <a:ext cx="2011680" cy="2011680"/>
          </a:xfrm>
          <a:prstGeom prst="roundRect">
            <a:avLst/>
          </a:prstGeom>
          <a:solidFill>
            <a:srgbClr val="0E2A1F"/>
          </a:solidFill>
          <a:ln w="19050">
            <a:solidFill>
              <a:srgbClr val="00C8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37160"/>
          <a:lstStyle/>
          <a:p>
            <a:pPr algn="ctr">
              <a:defRPr sz="1300" b="1">
                <a:solidFill>
                  <a:srgbClr val="00FF66"/>
                </a:solidFill>
                <a:latin typeface="Poppins"/>
              </a:defRPr>
            </a:pPr>
            <a:r>
              <a:t>5. GreenBot AI Copilot</a:t>
            </a:r>
          </a:p>
          <a:p>
            <a:pPr>
              <a:spcBef>
                <a:spcPts val="800"/>
              </a:spcBef>
              <a:defRPr sz="1000">
                <a:solidFill>
                  <a:srgbClr val="B2DFDB"/>
                </a:solidFill>
              </a:defRPr>
            </a:pPr>
            <a:r>
              <a:t>Operational &amp; Active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023360"/>
            <a:ext cx="2011680" cy="2011680"/>
          </a:xfrm>
          <a:prstGeom prst="roundRect">
            <a:avLst/>
          </a:prstGeom>
          <a:solidFill>
            <a:srgbClr val="0E2A1F"/>
          </a:solidFill>
          <a:ln w="19050">
            <a:solidFill>
              <a:srgbClr val="00C8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37160"/>
          <a:lstStyle/>
          <a:p>
            <a:pPr algn="ctr">
              <a:defRPr sz="1300" b="1">
                <a:solidFill>
                  <a:srgbClr val="00FF66"/>
                </a:solidFill>
                <a:latin typeface="Poppins"/>
              </a:defRPr>
            </a:pPr>
            <a:r>
              <a:t>6. AI Vision Defect Scanner</a:t>
            </a:r>
          </a:p>
          <a:p>
            <a:pPr>
              <a:spcBef>
                <a:spcPts val="800"/>
              </a:spcBef>
              <a:defRPr sz="1000">
                <a:solidFill>
                  <a:srgbClr val="B2DFDB"/>
                </a:solidFill>
              </a:defRPr>
            </a:pPr>
            <a:r>
              <a:t>Operational &amp; Active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907791" y="4023360"/>
            <a:ext cx="2011680" cy="2011680"/>
          </a:xfrm>
          <a:prstGeom prst="roundRect">
            <a:avLst/>
          </a:prstGeom>
          <a:solidFill>
            <a:srgbClr val="0E2A1F"/>
          </a:solidFill>
          <a:ln w="19050">
            <a:solidFill>
              <a:srgbClr val="00C8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37160"/>
          <a:lstStyle/>
          <a:p>
            <a:pPr algn="ctr">
              <a:defRPr sz="1300" b="1">
                <a:solidFill>
                  <a:srgbClr val="00FF66"/>
                </a:solidFill>
                <a:latin typeface="Poppins"/>
              </a:defRPr>
            </a:pPr>
            <a:r>
              <a:t>7. IoT Hardware Mesh</a:t>
            </a:r>
          </a:p>
          <a:p>
            <a:pPr>
              <a:spcBef>
                <a:spcPts val="800"/>
              </a:spcBef>
              <a:defRPr sz="1000">
                <a:solidFill>
                  <a:srgbClr val="B2DFDB"/>
                </a:solidFill>
              </a:defRPr>
            </a:pPr>
            <a:r>
              <a:t>Operational &amp; Active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84064" y="4023360"/>
            <a:ext cx="2011680" cy="2011680"/>
          </a:xfrm>
          <a:prstGeom prst="roundRect">
            <a:avLst/>
          </a:prstGeom>
          <a:solidFill>
            <a:srgbClr val="0E2A1F"/>
          </a:solidFill>
          <a:ln w="19050">
            <a:solidFill>
              <a:srgbClr val="00C8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37160"/>
          <a:lstStyle/>
          <a:p>
            <a:pPr algn="ctr">
              <a:defRPr sz="1300" b="1">
                <a:solidFill>
                  <a:srgbClr val="00FF66"/>
                </a:solidFill>
                <a:latin typeface="Poppins"/>
              </a:defRPr>
            </a:pPr>
            <a:r>
              <a:t>8. Executive Sustainability HUD</a:t>
            </a:r>
          </a:p>
          <a:p>
            <a:pPr>
              <a:spcBef>
                <a:spcPts val="800"/>
              </a:spcBef>
              <a:defRPr sz="1000">
                <a:solidFill>
                  <a:srgbClr val="B2DFDB"/>
                </a:solidFill>
              </a:defRPr>
            </a:pPr>
            <a:r>
              <a:t>Operational &amp; Active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260336" y="4023360"/>
            <a:ext cx="2011680" cy="2011680"/>
          </a:xfrm>
          <a:prstGeom prst="roundRect">
            <a:avLst/>
          </a:prstGeom>
          <a:solidFill>
            <a:srgbClr val="0E2A1F"/>
          </a:solidFill>
          <a:ln w="19050">
            <a:solidFill>
              <a:srgbClr val="00C8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37160"/>
          <a:lstStyle/>
          <a:p>
            <a:pPr algn="ctr">
              <a:defRPr sz="1300" b="1">
                <a:solidFill>
                  <a:srgbClr val="00FF66"/>
                </a:solidFill>
                <a:latin typeface="Poppins"/>
              </a:defRPr>
            </a:pPr>
            <a:r>
              <a:t>9. Green Rewards Leaderboard</a:t>
            </a:r>
          </a:p>
          <a:p>
            <a:pPr>
              <a:spcBef>
                <a:spcPts val="800"/>
              </a:spcBef>
              <a:defRPr sz="1000">
                <a:solidFill>
                  <a:srgbClr val="B2DFDB"/>
                </a:solidFill>
              </a:defRPr>
            </a:pPr>
            <a:r>
              <a:t>Operational &amp; Active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436608" y="4023360"/>
            <a:ext cx="2011680" cy="2011680"/>
          </a:xfrm>
          <a:prstGeom prst="roundRect">
            <a:avLst/>
          </a:prstGeom>
          <a:solidFill>
            <a:srgbClr val="0E2A1F"/>
          </a:solidFill>
          <a:ln w="19050">
            <a:solidFill>
              <a:srgbClr val="00C8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37160"/>
          <a:lstStyle/>
          <a:p>
            <a:pPr algn="ctr">
              <a:defRPr sz="1300" b="1">
                <a:solidFill>
                  <a:srgbClr val="00FF66"/>
                </a:solidFill>
                <a:latin typeface="Poppins"/>
              </a:defRPr>
            </a:pPr>
            <a:r>
              <a:t>10. Cloud Edge Database Sync</a:t>
            </a:r>
          </a:p>
          <a:p>
            <a:pPr>
              <a:spcBef>
                <a:spcPts val="800"/>
              </a:spcBef>
              <a:defRPr sz="1000">
                <a:solidFill>
                  <a:srgbClr val="B2DFDB"/>
                </a:solidFill>
              </a:defRPr>
            </a:pPr>
            <a:r>
              <a:t>Operational &amp; Active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A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Poppins"/>
              </a:defRPr>
            </a:pPr>
            <a:r>
              <a:t>ADMIN SECURITY CONTROL CENTER</a:t>
            </a:r>
          </a:p>
          <a:p>
            <a:pPr>
              <a:spcBef>
                <a:spcPts val="400"/>
              </a:spcBef>
              <a:defRPr sz="1300">
                <a:solidFill>
                  <a:srgbClr val="00E5FF"/>
                </a:solidFill>
                <a:latin typeface="Inter"/>
              </a:defRPr>
            </a:pPr>
            <a:r>
              <a:t>Role-Based Access Control &amp; Real-Time Incident Management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7040880" cy="4389120"/>
          </a:xfrm>
          <a:prstGeom prst="roundRect">
            <a:avLst/>
          </a:prstGeom>
          <a:solidFill>
            <a:srgbClr val="0E2A1F"/>
          </a:solidFill>
          <a:ln w="19050">
            <a:solidFill>
              <a:srgbClr val="00C8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/>
          <a:lstStyle/>
          <a:p>
            <a:pPr algn="ctr">
              <a:defRPr sz="1800" b="1">
                <a:solidFill>
                  <a:srgbClr val="00FF66"/>
                </a:solidFill>
              </a:defRPr>
            </a:pPr>
            <a:r>
              <a:t>🛡️ Centralized Governance &amp; Facilities Oversight</a:t>
            </a:r>
          </a:p>
          <a:p>
            <a:pPr>
              <a:spcBef>
                <a:spcPts val="1400"/>
              </a:spcBef>
              <a:defRPr sz="1300">
                <a:solidFill>
                  <a:srgbClr val="FFFFFF"/>
                </a:solidFill>
              </a:defRPr>
            </a:pPr>
            <a:r>
              <a:t>• Role-Based Access Control (RBAC): Isolated portals for Students, Maintenance Staff, and Administrators.</a:t>
            </a:r>
            <a:br/>
            <a:r>
              <a:t>• Real-Time Verification Pipeline: Technicians submit completion photos verified by admins before ticket resolution.</a:t>
            </a:r>
            <a:br/>
            <a:r>
              <a:t>• IoT Sensor Override &amp; Diagnostic Stream: Live control of ESP32 sensor threshold warnings.</a:t>
            </a:r>
            <a:br/>
            <a:r>
              <a:t>• User Directory &amp; Leaderboard Controls: Audit student points, badge allocations, and campus rankings.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046720" y="1645920"/>
            <a:ext cx="3383280" cy="4389120"/>
          </a:xfrm>
          <a:prstGeom prst="roundRect">
            <a:avLst/>
          </a:prstGeom>
          <a:solidFill>
            <a:srgbClr val="0E2A1F"/>
          </a:solidFill>
          <a:ln w="1905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3d_ai_brai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38160" y="1737360"/>
            <a:ext cx="3200400" cy="420624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A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Poppins"/>
              </a:defRPr>
            </a:pPr>
            <a:r>
              <a:t>MEASURED RESULTS &amp; SUSTAINABILITY KPIS</a:t>
            </a:r>
          </a:p>
          <a:p>
            <a:pPr>
              <a:spcBef>
                <a:spcPts val="400"/>
              </a:spcBef>
              <a:defRPr sz="1300">
                <a:solidFill>
                  <a:srgbClr val="00E5FF"/>
                </a:solidFill>
                <a:latin typeface="Inter"/>
              </a:defRPr>
            </a:pPr>
            <a:r>
              <a:t>Quantifiable Environmental Impact Across SPNREC Campus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2468880" cy="4389120"/>
          </a:xfrm>
          <a:prstGeom prst="roundRect">
            <a:avLst/>
          </a:prstGeom>
          <a:solidFill>
            <a:srgbClr val="0E2A1F"/>
          </a:solidFill>
          <a:ln w="19050">
            <a:solidFill>
              <a:srgbClr val="00FF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/>
          <a:lstStyle/>
          <a:p>
            <a:pPr algn="ctr">
              <a:defRPr sz="4000" b="1">
                <a:solidFill>
                  <a:srgbClr val="00FF66"/>
                </a:solidFill>
                <a:latin typeface="Montserrat"/>
              </a:defRPr>
            </a:pPr>
            <a:r>
              <a:t>40%</a:t>
            </a:r>
          </a:p>
          <a:p>
            <a:pPr>
              <a:spcBef>
                <a:spcPts val="1000"/>
              </a:spcBef>
              <a:defRPr sz="1600" b="1">
                <a:solidFill>
                  <a:srgbClr val="FFFFFF"/>
                </a:solidFill>
                <a:latin typeface="Poppins"/>
              </a:defRPr>
            </a:pPr>
            <a:r>
              <a:t>Water Saving</a:t>
            </a:r>
          </a:p>
          <a:p>
            <a:pPr>
              <a:spcBef>
                <a:spcPts val="1400"/>
              </a:spcBef>
              <a:defRPr sz="1100">
                <a:solidFill>
                  <a:srgbClr val="B2DFDB"/>
                </a:solidFill>
                <a:latin typeface="Inter"/>
              </a:defRPr>
            </a:pPr>
            <a:r>
              <a:t>Recycled Greywater &amp; Leak Repairs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29000" y="1645920"/>
            <a:ext cx="2468880" cy="4389120"/>
          </a:xfrm>
          <a:prstGeom prst="roundRect">
            <a:avLst/>
          </a:prstGeom>
          <a:solidFill>
            <a:srgbClr val="0E2A1F"/>
          </a:solidFill>
          <a:ln w="19050">
            <a:solidFill>
              <a:srgbClr val="00FF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/>
          <a:lstStyle/>
          <a:p>
            <a:pPr algn="ctr">
              <a:defRPr sz="4000" b="1">
                <a:solidFill>
                  <a:srgbClr val="00FF66"/>
                </a:solidFill>
                <a:latin typeface="Montserrat"/>
              </a:defRPr>
            </a:pPr>
            <a:r>
              <a:t>35%</a:t>
            </a:r>
          </a:p>
          <a:p>
            <a:pPr>
              <a:spcBef>
                <a:spcPts val="1000"/>
              </a:spcBef>
              <a:defRPr sz="1600" b="1">
                <a:solidFill>
                  <a:srgbClr val="FFFFFF"/>
                </a:solidFill>
                <a:latin typeface="Poppins"/>
              </a:defRPr>
            </a:pPr>
            <a:r>
              <a:t>Energy Saving</a:t>
            </a:r>
          </a:p>
          <a:p>
            <a:pPr>
              <a:spcBef>
                <a:spcPts val="1400"/>
              </a:spcBef>
              <a:defRPr sz="1100">
                <a:solidFill>
                  <a:srgbClr val="B2DFDB"/>
                </a:solidFill>
                <a:latin typeface="Inter"/>
              </a:defRPr>
            </a:pPr>
            <a:r>
              <a:t>250kW Solar Grid Optimization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26480" y="1645920"/>
            <a:ext cx="2468880" cy="4389120"/>
          </a:xfrm>
          <a:prstGeom prst="roundRect">
            <a:avLst/>
          </a:prstGeom>
          <a:solidFill>
            <a:srgbClr val="0E2A1F"/>
          </a:solidFill>
          <a:ln w="19050">
            <a:solidFill>
              <a:srgbClr val="00FF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/>
          <a:lstStyle/>
          <a:p>
            <a:pPr algn="ctr">
              <a:defRPr sz="4000" b="1">
                <a:solidFill>
                  <a:srgbClr val="00FF66"/>
                </a:solidFill>
                <a:latin typeface="Montserrat"/>
              </a:defRPr>
            </a:pPr>
            <a:r>
              <a:t>50%</a:t>
            </a:r>
          </a:p>
          <a:p>
            <a:pPr>
              <a:spcBef>
                <a:spcPts val="1000"/>
              </a:spcBef>
              <a:defRPr sz="1600" b="1">
                <a:solidFill>
                  <a:srgbClr val="FFFFFF"/>
                </a:solidFill>
                <a:latin typeface="Poppins"/>
              </a:defRPr>
            </a:pPr>
            <a:r>
              <a:t>Better Waste</a:t>
            </a:r>
          </a:p>
          <a:p>
            <a:pPr>
              <a:spcBef>
                <a:spcPts val="1400"/>
              </a:spcBef>
              <a:defRPr sz="1100">
                <a:solidFill>
                  <a:srgbClr val="B2DFDB"/>
                </a:solidFill>
                <a:latin typeface="Inter"/>
              </a:defRPr>
            </a:pPr>
            <a:r>
              <a:t>Smart Bin Overflow Prevention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823960" y="1645920"/>
            <a:ext cx="2468880" cy="4389120"/>
          </a:xfrm>
          <a:prstGeom prst="roundRect">
            <a:avLst/>
          </a:prstGeom>
          <a:solidFill>
            <a:srgbClr val="0E2A1F"/>
          </a:solidFill>
          <a:ln w="19050">
            <a:solidFill>
              <a:srgbClr val="00FF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/>
          <a:lstStyle/>
          <a:p>
            <a:pPr algn="ctr">
              <a:defRPr sz="4000" b="1">
                <a:solidFill>
                  <a:srgbClr val="00FF66"/>
                </a:solidFill>
                <a:latin typeface="Montserrat"/>
              </a:defRPr>
            </a:pPr>
            <a:r>
              <a:t>90%</a:t>
            </a:r>
          </a:p>
          <a:p>
            <a:pPr>
              <a:spcBef>
                <a:spcPts val="1000"/>
              </a:spcBef>
              <a:defRPr sz="1600" b="1">
                <a:solidFill>
                  <a:srgbClr val="FFFFFF"/>
                </a:solidFill>
                <a:latin typeface="Poppins"/>
              </a:defRPr>
            </a:pPr>
            <a:r>
              <a:t>Faster Resolution</a:t>
            </a:r>
          </a:p>
          <a:p>
            <a:pPr>
              <a:spcBef>
                <a:spcPts val="1400"/>
              </a:spcBef>
              <a:defRPr sz="1100">
                <a:solidFill>
                  <a:srgbClr val="B2DFDB"/>
                </a:solidFill>
                <a:latin typeface="Inter"/>
              </a:defRPr>
            </a:pPr>
            <a:r>
              <a:t>Automated GIS Technician Dispatch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A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Poppins"/>
              </a:defRPr>
            </a:pPr>
            <a:r>
              <a:t>FUTURE SCOPE &amp; DEPLOYMENT ROADMAP</a:t>
            </a:r>
          </a:p>
          <a:p>
            <a:pPr>
              <a:spcBef>
                <a:spcPts val="400"/>
              </a:spcBef>
              <a:defRPr sz="1300">
                <a:solidFill>
                  <a:srgbClr val="00E5FF"/>
                </a:solidFill>
                <a:latin typeface="Inter"/>
              </a:defRPr>
            </a:pPr>
            <a:r>
              <a:t>Strategic Growth Path from SPNREC Pilot to National Network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2011680"/>
            <a:ext cx="2011680" cy="3474720"/>
          </a:xfrm>
          <a:prstGeom prst="roundRect">
            <a:avLst/>
          </a:prstGeom>
          <a:solidFill>
            <a:srgbClr val="0E2A1F"/>
          </a:solidFill>
          <a:ln w="19050">
            <a:solidFill>
              <a:srgbClr val="00C8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/>
          <a:lstStyle/>
          <a:p>
            <a:pPr algn="ctr">
              <a:defRPr sz="2400" b="1">
                <a:solidFill>
                  <a:srgbClr val="00E5FF"/>
                </a:solidFill>
                <a:latin typeface="Montserrat"/>
              </a:defRPr>
            </a:pPr>
            <a:r>
              <a:t>2026</a:t>
            </a:r>
          </a:p>
          <a:p>
            <a:pPr>
              <a:spcBef>
                <a:spcPts val="1400"/>
              </a:spcBef>
              <a:defRPr sz="1300" b="1">
                <a:solidFill>
                  <a:srgbClr val="FFFFFF"/>
                </a:solidFill>
                <a:latin typeface="Poppins"/>
              </a:defRPr>
            </a:pPr>
            <a:r>
              <a:t>AI Prediction &amp; SPNREC Pilot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907791" y="2011680"/>
            <a:ext cx="2011680" cy="3474720"/>
          </a:xfrm>
          <a:prstGeom prst="roundRect">
            <a:avLst/>
          </a:prstGeom>
          <a:solidFill>
            <a:srgbClr val="0E2A1F"/>
          </a:solidFill>
          <a:ln w="19050">
            <a:solidFill>
              <a:srgbClr val="00C8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/>
          <a:lstStyle/>
          <a:p>
            <a:pPr algn="ctr">
              <a:defRPr sz="2400" b="1">
                <a:solidFill>
                  <a:srgbClr val="00E5FF"/>
                </a:solidFill>
                <a:latin typeface="Montserrat"/>
              </a:defRPr>
            </a:pPr>
            <a:r>
              <a:t>2027</a:t>
            </a:r>
          </a:p>
          <a:p>
            <a:pPr>
              <a:spcBef>
                <a:spcPts val="1400"/>
              </a:spcBef>
              <a:defRPr sz="1300" b="1">
                <a:solidFill>
                  <a:srgbClr val="FFFFFF"/>
                </a:solidFill>
                <a:latin typeface="Poppins"/>
              </a:defRPr>
            </a:pPr>
            <a:r>
              <a:t>Computer Vision &amp; District Colleges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84064" y="2011680"/>
            <a:ext cx="2011680" cy="3474720"/>
          </a:xfrm>
          <a:prstGeom prst="roundRect">
            <a:avLst/>
          </a:prstGeom>
          <a:solidFill>
            <a:srgbClr val="0E2A1F"/>
          </a:solidFill>
          <a:ln w="19050">
            <a:solidFill>
              <a:srgbClr val="00C8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/>
          <a:lstStyle/>
          <a:p>
            <a:pPr algn="ctr">
              <a:defRPr sz="2400" b="1">
                <a:solidFill>
                  <a:srgbClr val="00E5FF"/>
                </a:solidFill>
                <a:latin typeface="Montserrat"/>
              </a:defRPr>
            </a:pPr>
            <a:r>
              <a:t>2028</a:t>
            </a:r>
          </a:p>
          <a:p>
            <a:pPr>
              <a:spcBef>
                <a:spcPts val="1400"/>
              </a:spcBef>
              <a:defRPr sz="1300" b="1">
                <a:solidFill>
                  <a:srgbClr val="FFFFFF"/>
                </a:solidFill>
                <a:latin typeface="Poppins"/>
              </a:defRPr>
            </a:pPr>
            <a:r>
              <a:t>Autonomous Drone Campus Inspection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260336" y="2011680"/>
            <a:ext cx="2011680" cy="3474720"/>
          </a:xfrm>
          <a:prstGeom prst="roundRect">
            <a:avLst/>
          </a:prstGeom>
          <a:solidFill>
            <a:srgbClr val="0E2A1F"/>
          </a:solidFill>
          <a:ln w="19050">
            <a:solidFill>
              <a:srgbClr val="00C8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/>
          <a:lstStyle/>
          <a:p>
            <a:pPr algn="ctr">
              <a:defRPr sz="2400" b="1">
                <a:solidFill>
                  <a:srgbClr val="00E5FF"/>
                </a:solidFill>
                <a:latin typeface="Montserrat"/>
              </a:defRPr>
            </a:pPr>
            <a:r>
              <a:t>2029</a:t>
            </a:r>
          </a:p>
          <a:p>
            <a:pPr>
              <a:spcBef>
                <a:spcPts val="1400"/>
              </a:spcBef>
              <a:defRPr sz="1300" b="1">
                <a:solidFill>
                  <a:srgbClr val="FFFFFF"/>
                </a:solidFill>
                <a:latin typeface="Poppins"/>
              </a:defRPr>
            </a:pPr>
            <a:r>
              <a:t>Digital Twin Campus Simulation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436608" y="2011680"/>
            <a:ext cx="2011680" cy="3474720"/>
          </a:xfrm>
          <a:prstGeom prst="roundRect">
            <a:avLst/>
          </a:prstGeom>
          <a:solidFill>
            <a:srgbClr val="0E2A1F"/>
          </a:solidFill>
          <a:ln w="19050">
            <a:solidFill>
              <a:srgbClr val="00C8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/>
          <a:lstStyle/>
          <a:p>
            <a:pPr algn="ctr">
              <a:defRPr sz="2400" b="1">
                <a:solidFill>
                  <a:srgbClr val="00E5FF"/>
                </a:solidFill>
                <a:latin typeface="Montserrat"/>
              </a:defRPr>
            </a:pPr>
            <a:r>
              <a:t>2030</a:t>
            </a:r>
          </a:p>
          <a:p>
            <a:pPr>
              <a:spcBef>
                <a:spcPts val="1400"/>
              </a:spcBef>
              <a:defRPr sz="1300" b="1">
                <a:solidFill>
                  <a:srgbClr val="FFFFFF"/>
                </a:solidFill>
                <a:latin typeface="Poppins"/>
              </a:defRPr>
            </a:pPr>
            <a:r>
              <a:t>National Net-Zero Campus Mesh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A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Poppins"/>
              </a:defRPr>
            </a:pPr>
            <a:r>
              <a:t>MULTI-DIMENSIONAL IMPACT MATRIX</a:t>
            </a:r>
          </a:p>
          <a:p>
            <a:pPr>
              <a:spcBef>
                <a:spcPts val="400"/>
              </a:spcBef>
              <a:defRPr sz="1300">
                <a:solidFill>
                  <a:srgbClr val="00E5FF"/>
                </a:solidFill>
                <a:latin typeface="Inter"/>
              </a:defRPr>
            </a:pPr>
            <a:r>
              <a:t>Transforming Educational Institutions Across Key Sectors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3383280" cy="2011680"/>
          </a:xfrm>
          <a:prstGeom prst="roundRect">
            <a:avLst/>
          </a:prstGeom>
          <a:solidFill>
            <a:srgbClr val="0E2A1F"/>
          </a:solidFill>
          <a:ln w="19050">
            <a:solidFill>
              <a:srgbClr val="00C8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/>
          <a:lstStyle/>
          <a:p>
            <a:pPr algn="ctr">
              <a:defRPr sz="1600" b="1">
                <a:solidFill>
                  <a:srgbClr val="00FF66"/>
                </a:solidFill>
                <a:latin typeface="Poppins"/>
              </a:defRPr>
            </a:pPr>
            <a:r>
              <a:t>🌿 Environmental</a:t>
            </a:r>
          </a:p>
          <a:p>
            <a:pPr>
              <a:spcBef>
                <a:spcPts val="800"/>
              </a:spcBef>
              <a:defRPr sz="1100">
                <a:solidFill>
                  <a:srgbClr val="FFFFFF"/>
                </a:solidFill>
                <a:latin typeface="Inter"/>
              </a:defRPr>
            </a:pPr>
            <a:r>
              <a:t>Reduced carbon footprint, zero waste overflow, water conservation.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389120" y="1645920"/>
            <a:ext cx="3383280" cy="2011680"/>
          </a:xfrm>
          <a:prstGeom prst="roundRect">
            <a:avLst/>
          </a:prstGeom>
          <a:solidFill>
            <a:srgbClr val="0E2A1F"/>
          </a:solidFill>
          <a:ln w="19050">
            <a:solidFill>
              <a:srgbClr val="00C8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/>
          <a:lstStyle/>
          <a:p>
            <a:pPr algn="ctr">
              <a:defRPr sz="1600" b="1">
                <a:solidFill>
                  <a:srgbClr val="00FF66"/>
                </a:solidFill>
                <a:latin typeface="Poppins"/>
              </a:defRPr>
            </a:pPr>
            <a:r>
              <a:t>💰 Economic</a:t>
            </a:r>
          </a:p>
          <a:p>
            <a:pPr>
              <a:spcBef>
                <a:spcPts val="800"/>
              </a:spcBef>
              <a:defRPr sz="1100">
                <a:solidFill>
                  <a:srgbClr val="FFFFFF"/>
                </a:solidFill>
                <a:latin typeface="Inter"/>
              </a:defRPr>
            </a:pPr>
            <a:r>
              <a:t>25% lower facilities maintenance costs, lower electricity grid bills.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046720" y="1645920"/>
            <a:ext cx="3383280" cy="2011680"/>
          </a:xfrm>
          <a:prstGeom prst="roundRect">
            <a:avLst/>
          </a:prstGeom>
          <a:solidFill>
            <a:srgbClr val="0E2A1F"/>
          </a:solidFill>
          <a:ln w="19050">
            <a:solidFill>
              <a:srgbClr val="00C8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/>
          <a:lstStyle/>
          <a:p>
            <a:pPr algn="ctr">
              <a:defRPr sz="1600" b="1">
                <a:solidFill>
                  <a:srgbClr val="00FF66"/>
                </a:solidFill>
                <a:latin typeface="Poppins"/>
              </a:defRPr>
            </a:pPr>
            <a:r>
              <a:t>👥 Social</a:t>
            </a:r>
          </a:p>
          <a:p>
            <a:pPr>
              <a:spcBef>
                <a:spcPts val="800"/>
              </a:spcBef>
              <a:defRPr sz="1100">
                <a:solidFill>
                  <a:srgbClr val="FFFFFF"/>
                </a:solidFill>
                <a:latin typeface="Inter"/>
              </a:defRPr>
            </a:pPr>
            <a:r>
              <a:t>Active student civic engagement, clean and healthy campus grounds.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023360"/>
            <a:ext cx="3383280" cy="2011680"/>
          </a:xfrm>
          <a:prstGeom prst="roundRect">
            <a:avLst/>
          </a:prstGeom>
          <a:solidFill>
            <a:srgbClr val="0E2A1F"/>
          </a:solidFill>
          <a:ln w="19050">
            <a:solidFill>
              <a:srgbClr val="00C8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/>
          <a:lstStyle/>
          <a:p>
            <a:pPr algn="ctr">
              <a:defRPr sz="1600" b="1">
                <a:solidFill>
                  <a:srgbClr val="00FF66"/>
                </a:solidFill>
                <a:latin typeface="Poppins"/>
              </a:defRPr>
            </a:pPr>
            <a:r>
              <a:t>🎓 Educational</a:t>
            </a:r>
          </a:p>
          <a:p>
            <a:pPr>
              <a:spcBef>
                <a:spcPts val="800"/>
              </a:spcBef>
              <a:defRPr sz="1100">
                <a:solidFill>
                  <a:srgbClr val="FFFFFF"/>
                </a:solidFill>
                <a:latin typeface="Inter"/>
              </a:defRPr>
            </a:pPr>
            <a:r>
              <a:t>Living research laboratory for engineering students &amp; green skills.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4023360"/>
            <a:ext cx="3383280" cy="2011680"/>
          </a:xfrm>
          <a:prstGeom prst="roundRect">
            <a:avLst/>
          </a:prstGeom>
          <a:solidFill>
            <a:srgbClr val="0E2A1F"/>
          </a:solidFill>
          <a:ln w="19050">
            <a:solidFill>
              <a:srgbClr val="00C8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/>
          <a:lstStyle/>
          <a:p>
            <a:pPr algn="ctr">
              <a:defRPr sz="1600" b="1">
                <a:solidFill>
                  <a:srgbClr val="00FF66"/>
                </a:solidFill>
                <a:latin typeface="Poppins"/>
              </a:defRPr>
            </a:pPr>
            <a:r>
              <a:t>⚙️ Technological</a:t>
            </a:r>
          </a:p>
          <a:p>
            <a:pPr>
              <a:spcBef>
                <a:spcPts val="800"/>
              </a:spcBef>
              <a:defRPr sz="1100">
                <a:solidFill>
                  <a:srgbClr val="FFFFFF"/>
                </a:solidFill>
                <a:latin typeface="Inter"/>
              </a:defRPr>
            </a:pPr>
            <a:r>
              <a:t>Scalable IoT edge architecture, Google Gemini AI integration.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4023360"/>
            <a:ext cx="3383280" cy="2011680"/>
          </a:xfrm>
          <a:prstGeom prst="roundRect">
            <a:avLst/>
          </a:prstGeom>
          <a:solidFill>
            <a:srgbClr val="0E2A1F"/>
          </a:solidFill>
          <a:ln w="19050">
            <a:solidFill>
              <a:srgbClr val="00C8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/>
          <a:lstStyle/>
          <a:p>
            <a:pPr algn="ctr">
              <a:defRPr sz="1600" b="1">
                <a:solidFill>
                  <a:srgbClr val="00FF66"/>
                </a:solidFill>
                <a:latin typeface="Poppins"/>
              </a:defRPr>
            </a:pPr>
            <a:r>
              <a:t>🏛️ Government</a:t>
            </a:r>
          </a:p>
          <a:p>
            <a:pPr>
              <a:spcBef>
                <a:spcPts val="800"/>
              </a:spcBef>
              <a:defRPr sz="1100">
                <a:solidFill>
                  <a:srgbClr val="FFFFFF"/>
                </a:solidFill>
                <a:latin typeface="Inter"/>
              </a:defRPr>
            </a:pPr>
            <a:r>
              <a:t>Supports Bihar DST green campus targets &amp; Microsoft ESG goals.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A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731520"/>
            <a:ext cx="6858000" cy="5394960"/>
          </a:xfrm>
          <a:prstGeom prst="roundRect">
            <a:avLst/>
          </a:prstGeom>
          <a:solidFill>
            <a:srgbClr val="0E2A1F"/>
          </a:solidFill>
          <a:ln w="19050">
            <a:solidFill>
              <a:srgbClr val="00FF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/>
          <a:lstStyle/>
          <a:p>
            <a:pPr algn="ctr">
              <a:defRPr sz="3600" b="1">
                <a:solidFill>
                  <a:srgbClr val="00FF66"/>
                </a:solidFill>
                <a:latin typeface="Poppins"/>
              </a:defRPr>
            </a:pPr>
            <a:r>
              <a:t>THANK YOU!</a:t>
            </a:r>
          </a:p>
          <a:p>
            <a:pPr>
              <a:spcBef>
                <a:spcPts val="600"/>
              </a:spcBef>
              <a:defRPr sz="1600" b="1">
                <a:solidFill>
                  <a:srgbClr val="FFFFFF"/>
                </a:solidFill>
                <a:latin typeface="Poppins"/>
              </a:defRPr>
            </a:pPr>
            <a:r>
              <a:t>Building Smarter, Greener &amp; Sustainable Campuses with AI + IoT</a:t>
            </a:r>
          </a:p>
          <a:p>
            <a:pPr>
              <a:spcBef>
                <a:spcPts val="1200"/>
              </a:spcBef>
              <a:defRPr sz="1100">
                <a:solidFill>
                  <a:srgbClr val="B2DFDB"/>
                </a:solidFill>
                <a:latin typeface="Inter"/>
              </a:defRPr>
            </a:pPr>
            <a:r>
              <a:t>🌐 Live Website: https://green-verse-ai-smart-campus-sustain.vercel.app</a:t>
            </a:r>
            <a:br/>
            <a:r>
              <a:t>💻 GitHub: https://github.com/yashkumar5224/GreenVerse-AI-Smart-Campus-Sustainability-Maintenance-Platform.git</a:t>
            </a:r>
            <a:br/>
            <a:r>
              <a:t>🏛️ Institution: Shri Phanishwar Nath Renu Engineering College (SPNREC), Araria</a:t>
            </a:r>
            <a:br/>
            <a:r>
              <a:t>🏅 Internship: 1M1B Applied AI Initiative (Microsoft Supported)</a:t>
            </a:r>
            <a:br/>
            <a:r>
              <a:t>👥 Team: Sustainability Green Warriors (Yash Kumar, Neha, Suraj, Utkarsh)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863840" y="731520"/>
            <a:ext cx="3566160" cy="5394960"/>
          </a:xfrm>
          <a:prstGeom prst="roundRect">
            <a:avLst/>
          </a:prstGeom>
          <a:solidFill>
            <a:srgbClr val="0E2A1F"/>
          </a:solidFill>
          <a:ln w="1905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3d_smart_campu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79" y="822960"/>
            <a:ext cx="3383280" cy="521208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