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6217920" cy="539496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058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FF66"/>
                </a:solidFill>
                <a:latin typeface="Poppins"/>
              </a:defRPr>
            </a:pPr>
            <a:r>
              <a:t>🌿 GREENVERSE AI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  <a:latin typeface="Poppins"/>
              </a:defRPr>
            </a:pPr>
            <a:r>
              <a:t>AI-IoT Smart Campus Sustainability &amp; Maintenance Platform</a:t>
            </a:r>
          </a:p>
          <a:p>
            <a:pPr>
              <a:spcBef>
                <a:spcPts val="1000"/>
              </a:spcBef>
              <a:defRPr sz="1200">
                <a:solidFill>
                  <a:srgbClr val="B2DFDB"/>
                </a:solidFill>
                <a:latin typeface="Inter"/>
              </a:defRPr>
            </a:pPr>
            <a:r>
              <a:t>Transforming Educational Institutions with Artificial Intelligence, IoT Telemetry, GIS Mapping &amp; Renewable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4114800"/>
            <a:ext cx="2743200" cy="16459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INSTITUTION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SPNREC Araria (Bihar)</a:t>
            </a:r>
            <a:br/>
            <a:r>
              <a:t>BEU Patna Affiliated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4114800"/>
            <a:ext cx="2743200" cy="16459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INTERNSHIP SPONSOR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1M1B Applied AI Initiative</a:t>
            </a:r>
            <a:br/>
            <a:r>
              <a:t>(Microsoft Supported)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731520"/>
            <a:ext cx="4297680" cy="539496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d_smart_camp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822960"/>
            <a:ext cx="4114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oppins"/>
              </a:defRPr>
            </a:pPr>
            <a:r>
              <a:t>Slide 2  |  Problem Statement &amp; Solution Overview</a:t>
            </a:r>
          </a:p>
          <a:p>
            <a:pPr>
              <a:spcBef>
                <a:spcPts val="300"/>
              </a:spcBef>
              <a:defRPr sz="1200">
                <a:solidFill>
                  <a:srgbClr val="00E5FF"/>
                </a:solidFill>
                <a:latin typeface="Inter"/>
              </a:defRPr>
            </a:pPr>
            <a:r>
              <a:t>Solving Campus Waste, Energy, Water, and Carbon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00FF66"/>
                </a:solidFill>
                <a:latin typeface="Poppins"/>
              </a:defRPr>
            </a:pPr>
            <a:r>
              <a:t>🗑️ Waste Management</a:t>
            </a:r>
          </a:p>
          <a:p>
            <a:pPr>
              <a:spcBef>
                <a:spcPts val="12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Manual bin inspections lead to overflow, littering, and unhygienic campus grounds.</a:t>
            </a:r>
          </a:p>
          <a:p>
            <a:pPr>
              <a:spcBef>
                <a:spcPts val="2000"/>
              </a:spcBef>
              <a:defRPr sz="1600" b="1">
                <a:solidFill>
                  <a:srgbClr val="00E5FF"/>
                </a:solidFill>
                <a:latin typeface="Montserrat"/>
              </a:defRPr>
            </a:pPr>
            <a:r>
              <a:t>85% Overflow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00FF66"/>
                </a:solidFill>
                <a:latin typeface="Poppins"/>
              </a:defRPr>
            </a:pPr>
            <a:r>
              <a:t>⚡ Energy Consumption</a:t>
            </a:r>
          </a:p>
          <a:p>
            <a:pPr>
              <a:spcBef>
                <a:spcPts val="12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Unmonitored HVAC and lighting lead to massive grid power waste and operational costs.</a:t>
            </a:r>
          </a:p>
          <a:p>
            <a:pPr>
              <a:spcBef>
                <a:spcPts val="2000"/>
              </a:spcBef>
              <a:defRPr sz="1600" b="1">
                <a:solidFill>
                  <a:srgbClr val="00E5FF"/>
                </a:solidFill>
                <a:latin typeface="Montserrat"/>
              </a:defRPr>
            </a:pPr>
            <a:r>
              <a:t>40% Power Wasted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00FF66"/>
                </a:solidFill>
                <a:latin typeface="Poppins"/>
              </a:defRPr>
            </a:pPr>
            <a:r>
              <a:t>💧 Water Wastage</a:t>
            </a:r>
          </a:p>
          <a:p>
            <a:pPr>
              <a:spcBef>
                <a:spcPts val="12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Undetected pipe leaks and overhead tank overflows waste thousands of liters daily.</a:t>
            </a:r>
          </a:p>
          <a:p>
            <a:pPr>
              <a:spcBef>
                <a:spcPts val="2000"/>
              </a:spcBef>
              <a:defRPr sz="1600" b="1">
                <a:solidFill>
                  <a:srgbClr val="00E5FF"/>
                </a:solidFill>
                <a:latin typeface="Montserrat"/>
              </a:defRPr>
            </a:pPr>
            <a:r>
              <a:t>45,000L Lost/Mo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00FF66"/>
                </a:solidFill>
                <a:latin typeface="Poppins"/>
              </a:defRPr>
            </a:pPr>
            <a:r>
              <a:t>🌿 Carbon Footprint</a:t>
            </a:r>
          </a:p>
          <a:p>
            <a:pPr>
              <a:spcBef>
                <a:spcPts val="12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High reliance on non-renewable grid power increases campus carbon emissions.</a:t>
            </a:r>
          </a:p>
          <a:p>
            <a:pPr>
              <a:spcBef>
                <a:spcPts val="2000"/>
              </a:spcBef>
              <a:defRPr sz="1600" b="1">
                <a:solidFill>
                  <a:srgbClr val="00E5FF"/>
                </a:solidFill>
                <a:latin typeface="Montserrat"/>
              </a:defRPr>
            </a:pPr>
            <a:r>
              <a:t>High ESG Deficit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oppins"/>
              </a:defRPr>
            </a:pPr>
            <a:r>
              <a:t>Slide 3  |  System Architecture &amp; Data Pipeline</a:t>
            </a:r>
          </a:p>
          <a:p>
            <a:pPr>
              <a:spcBef>
                <a:spcPts val="300"/>
              </a:spcBef>
              <a:defRPr sz="1200">
                <a:solidFill>
                  <a:srgbClr val="00E5FF"/>
                </a:solidFill>
                <a:latin typeface="Inter"/>
              </a:defRPr>
            </a:pPr>
            <a:r>
              <a:t>End-to-End IoT Sensors, Supabase Cloud, Gemini AI &amp; Mobile App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d_iot_senso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310896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297680" y="1645920"/>
            <a:ext cx="219456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FF66"/>
                </a:solidFill>
                <a:latin typeface="Poppins"/>
              </a:defRPr>
            </a:pPr>
            <a:r>
              <a:t>1. IoT Sensors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Smart Bins, Water Pressure, Solar 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45920"/>
            <a:ext cx="219456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FF66"/>
                </a:solidFill>
                <a:latin typeface="Poppins"/>
              </a:defRPr>
            </a:pPr>
            <a:r>
              <a:t>2. ESP32 Edge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Microcontroller Data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645920"/>
            <a:ext cx="219456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FF66"/>
                </a:solidFill>
                <a:latin typeface="Poppins"/>
              </a:defRPr>
            </a:pPr>
            <a:r>
              <a:t>3. WiFi Gateway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Encrypted Telemetry Transmission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931920"/>
            <a:ext cx="219456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FF66"/>
                </a:solidFill>
                <a:latin typeface="Poppins"/>
              </a:defRPr>
            </a:pPr>
            <a:r>
              <a:t>4. Firebase/Supabase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Realtime Database &amp; Webhooks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931920"/>
            <a:ext cx="219456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FF66"/>
                </a:solidFill>
                <a:latin typeface="Poppins"/>
              </a:defRPr>
            </a:pPr>
            <a:r>
              <a:t>5. Gemini AI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Defect Scanning &amp; Predictive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931920"/>
            <a:ext cx="219456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FF66"/>
                </a:solidFill>
                <a:latin typeface="Poppins"/>
              </a:defRPr>
            </a:pPr>
            <a:r>
              <a:t>6. Control Center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Inter"/>
              </a:defRPr>
            </a:pPr>
            <a:r>
              <a:t>Admin &amp; Staff Dispatch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oppins"/>
              </a:defRPr>
            </a:pPr>
            <a:r>
              <a:t>Slide 4  |  Prototype Demonstration</a:t>
            </a:r>
          </a:p>
          <a:p>
            <a:pPr>
              <a:spcBef>
                <a:spcPts val="300"/>
              </a:spcBef>
              <a:defRPr sz="1200">
                <a:solidFill>
                  <a:srgbClr val="00E5FF"/>
                </a:solidFill>
                <a:latin typeface="Inter"/>
              </a:defRPr>
            </a:pPr>
            <a:r>
              <a:t>GreenVerse - AI Smart Campus Sustainability &amp; Maintenance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5603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FF66"/>
                </a:solidFill>
              </a:defRPr>
            </a:pPr>
            <a:r>
              <a:t>🌐 Website Portal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Cinematic 3D Eco Hero</a:t>
            </a:r>
            <a:br/>
            <a:r>
              <a:t>• Live Telemetry HUD</a:t>
            </a:r>
            <a:br/>
            <a:r>
              <a:t>• 13 Feature Cards</a:t>
            </a:r>
            <a:br/>
            <a:r>
              <a:t>• Interactive GIS Radar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25603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📱 Mobile Student App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Instant Issue Reporting</a:t>
            </a:r>
            <a:br/>
            <a:r>
              <a:t>• Gemini AI Defect Scan</a:t>
            </a:r>
            <a:br/>
            <a:r>
              <a:t>• +50 Eco-Points Rewards</a:t>
            </a:r>
            <a:br/>
            <a:r>
              <a:t>• GreenBot Voice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25603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0FF66"/>
                </a:solidFill>
              </a:defRPr>
            </a:pPr>
            <a:r>
              <a:t>🛡️ Admin Dashboard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Role-Based Access Control</a:t>
            </a:r>
            <a:br/>
            <a:r>
              <a:t>• Technician Dispatch Queue</a:t>
            </a:r>
            <a:br/>
            <a:r>
              <a:t>• Photo Repair Verification</a:t>
            </a:r>
            <a:br/>
            <a:r>
              <a:t>• Microsoft ESG Audit 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2120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00E5FF"/>
                </a:solidFill>
              </a:defRPr>
            </a:pPr>
            <a:r>
              <a:t>🔄 Complaint &amp; AI Workflows</a:t>
            </a:r>
          </a:p>
          <a:p>
            <a:pPr>
              <a:spcBef>
                <a:spcPts val="600"/>
              </a:spcBef>
              <a:defRPr sz="1100">
                <a:solidFill>
                  <a:srgbClr val="B2DFDB"/>
                </a:solidFill>
              </a:defRPr>
            </a:pPr>
            <a:r>
              <a:t>User Reports Issue ➔ Complaint Submitted ➔ Assigned to Maintenance ➔ Work in Progress ➔ Verified &amp; Resolved ➔ Eco Points Credited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00FF66"/>
                </a:solidFill>
              </a:defRPr>
            </a:pPr>
            <a:r>
              <a:t>👥 Role-Based Access Control (RBAC)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Student: Report issues, track status, earn eco rewards.</a:t>
            </a:r>
            <a:br/>
            <a:r>
              <a:t>• Maintenance: Receive tasks, navigate GIS map, upload repair photos.</a:t>
            </a:r>
            <a:br/>
            <a:r>
              <a:t>• Admin: Govern users, monitor telemetry, verify completions.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oppins"/>
              </a:defRPr>
            </a:pPr>
            <a:r>
              <a:t>Slide 5  |  10 Core Platform Features</a:t>
            </a:r>
          </a:p>
          <a:p>
            <a:pPr>
              <a:spcBef>
                <a:spcPts val="300"/>
              </a:spcBef>
              <a:defRPr sz="1200">
                <a:solidFill>
                  <a:srgbClr val="00E5FF"/>
                </a:solidFill>
                <a:latin typeface="Inter"/>
              </a:defRPr>
            </a:pPr>
            <a:r>
              <a:t>Integrated SaaS Modules Powering Smart Campus Sustainability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1. Smart Waste Monitoring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1" y="164592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2. Smart Water Monitoring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164592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3. Solar Grid Telemetry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164592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4. GIS Campus Radar Map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164592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5. GreenBot AI Copilot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6. AI Vision Defect Scanner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402336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7. IoT Hardware Mesh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402336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8. Executive Sustainability HUD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402336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9. Green Rewards Leaderboard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4023360"/>
            <a:ext cx="20116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FF66"/>
                </a:solidFill>
                <a:latin typeface="Poppins"/>
              </a:defRPr>
            </a:pPr>
            <a:r>
              <a:t>10. Cloud Edge Database Sync</a:t>
            </a:r>
          </a:p>
          <a:p>
            <a:pPr>
              <a:spcBef>
                <a:spcPts val="800"/>
              </a:spcBef>
              <a:defRPr sz="1000">
                <a:solidFill>
                  <a:srgbClr val="B2DFDB"/>
                </a:solidFill>
              </a:defRPr>
            </a:pPr>
            <a:r>
              <a:t>Operational &amp; Active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oppins"/>
              </a:defRPr>
            </a:pPr>
            <a:r>
              <a:t>Slide 6  |  Measured Results &amp; Sustainability KPIs</a:t>
            </a:r>
          </a:p>
          <a:p>
            <a:pPr>
              <a:spcBef>
                <a:spcPts val="300"/>
              </a:spcBef>
              <a:defRPr sz="1200">
                <a:solidFill>
                  <a:srgbClr val="00E5FF"/>
                </a:solidFill>
                <a:latin typeface="Inter"/>
              </a:defRPr>
            </a:pPr>
            <a:r>
              <a:t>Quantifiable Environmental &amp; Financial Impact Across Campus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4000" b="1">
                <a:solidFill>
                  <a:srgbClr val="00FF66"/>
                </a:solidFill>
                <a:latin typeface="Montserrat"/>
              </a:defRPr>
            </a:pPr>
            <a:r>
              <a:t>40%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Poppins"/>
              </a:defRPr>
            </a:pPr>
            <a:r>
              <a:t>Water Saving</a:t>
            </a:r>
          </a:p>
          <a:p>
            <a:pPr>
              <a:spcBef>
                <a:spcPts val="14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Recycled Greywater &amp; Leak Repairs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4000" b="1">
                <a:solidFill>
                  <a:srgbClr val="00FF66"/>
                </a:solidFill>
                <a:latin typeface="Montserrat"/>
              </a:defRPr>
            </a:pPr>
            <a:r>
              <a:t>35%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Poppins"/>
              </a:defRPr>
            </a:pPr>
            <a:r>
              <a:t>Energy Saving</a:t>
            </a:r>
          </a:p>
          <a:p>
            <a:pPr>
              <a:spcBef>
                <a:spcPts val="14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250kW Solar Grid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4000" b="1">
                <a:solidFill>
                  <a:srgbClr val="00FF66"/>
                </a:solidFill>
                <a:latin typeface="Montserrat"/>
              </a:defRPr>
            </a:pPr>
            <a:r>
              <a:t>50%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Poppins"/>
              </a:defRPr>
            </a:pPr>
            <a:r>
              <a:t>Better Waste</a:t>
            </a:r>
          </a:p>
          <a:p>
            <a:pPr>
              <a:spcBef>
                <a:spcPts val="14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Smart Bin Overflow Prevention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4000" b="1">
                <a:solidFill>
                  <a:srgbClr val="00FF66"/>
                </a:solidFill>
                <a:latin typeface="Montserrat"/>
              </a:defRPr>
            </a:pPr>
            <a:r>
              <a:t>25%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Poppins"/>
              </a:defRPr>
            </a:pPr>
            <a:r>
              <a:t>Cost Reduction</a:t>
            </a:r>
          </a:p>
          <a:p>
            <a:pPr>
              <a:spcBef>
                <a:spcPts val="1400"/>
              </a:spcBef>
              <a:defRPr sz="1100">
                <a:solidFill>
                  <a:srgbClr val="B2DFDB"/>
                </a:solidFill>
                <a:latin typeface="Inter"/>
              </a:defRPr>
            </a:pPr>
            <a:r>
              <a:t>Lower Facilities Maintenance Costs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oppins"/>
              </a:defRPr>
            </a:pPr>
            <a:r>
              <a:t>Slide 7  |  Scaling Strategy &amp; Future Roadmap</a:t>
            </a:r>
          </a:p>
          <a:p>
            <a:pPr>
              <a:spcBef>
                <a:spcPts val="300"/>
              </a:spcBef>
              <a:defRPr sz="1200">
                <a:solidFill>
                  <a:srgbClr val="00E5FF"/>
                </a:solidFill>
                <a:latin typeface="Inter"/>
              </a:defRPr>
            </a:pPr>
            <a:r>
              <a:t>From SPNREC Pilot to a National Smart Campus Network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011680" cy="228600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0FF66"/>
                </a:solidFill>
                <a:latin typeface="Poppins"/>
              </a:defRPr>
            </a:pPr>
            <a:r>
              <a:t>1. SPNREC Pilot</a:t>
            </a:r>
          </a:p>
          <a:p>
            <a:pPr>
              <a:spcBef>
                <a:spcPts val="600"/>
              </a:spcBef>
              <a:defRPr sz="1000">
                <a:solidFill>
                  <a:srgbClr val="B2DFDB"/>
                </a:solidFill>
                <a:latin typeface="Inter"/>
              </a:defRPr>
            </a:pPr>
            <a:r>
              <a:t>Deploy &amp; validate solutions across Araria campus.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1" y="1463040"/>
            <a:ext cx="2011680" cy="228600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0FF66"/>
                </a:solidFill>
                <a:latin typeface="Poppins"/>
              </a:defRPr>
            </a:pPr>
            <a:r>
              <a:t>2. District Colleges</a:t>
            </a:r>
          </a:p>
          <a:p>
            <a:pPr>
              <a:spcBef>
                <a:spcPts val="600"/>
              </a:spcBef>
              <a:defRPr sz="1000">
                <a:solidFill>
                  <a:srgbClr val="B2DFDB"/>
                </a:solidFill>
                <a:latin typeface="Inter"/>
              </a:defRPr>
            </a:pPr>
            <a:r>
              <a:t>Expand to nearby Bihar district colleges.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1463040"/>
            <a:ext cx="2011680" cy="228600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0FF66"/>
                </a:solidFill>
                <a:latin typeface="Poppins"/>
              </a:defRPr>
            </a:pPr>
            <a:r>
              <a:t>3. Engineering Colleges</a:t>
            </a:r>
          </a:p>
          <a:p>
            <a:pPr>
              <a:spcBef>
                <a:spcPts val="600"/>
              </a:spcBef>
              <a:defRPr sz="1000">
                <a:solidFill>
                  <a:srgbClr val="B2DFDB"/>
                </a:solidFill>
                <a:latin typeface="Inter"/>
              </a:defRPr>
            </a:pPr>
            <a:r>
              <a:t>Scale to all state engineering institutes.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1463040"/>
            <a:ext cx="2011680" cy="228600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0FF66"/>
                </a:solidFill>
                <a:latin typeface="Poppins"/>
              </a:defRPr>
            </a:pPr>
            <a:r>
              <a:t>4. Universities</a:t>
            </a:r>
          </a:p>
          <a:p>
            <a:pPr>
              <a:spcBef>
                <a:spcPts val="600"/>
              </a:spcBef>
              <a:defRPr sz="1000">
                <a:solidFill>
                  <a:srgbClr val="B2DFDB"/>
                </a:solidFill>
                <a:latin typeface="Inter"/>
              </a:defRPr>
            </a:pPr>
            <a:r>
              <a:t>University-wide deployment &amp; policy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1463040"/>
            <a:ext cx="2011680" cy="228600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00FF66"/>
                </a:solidFill>
                <a:latin typeface="Poppins"/>
              </a:defRPr>
            </a:pPr>
            <a:r>
              <a:t>5. National Network</a:t>
            </a:r>
          </a:p>
          <a:p>
            <a:pPr>
              <a:spcBef>
                <a:spcPts val="600"/>
              </a:spcBef>
              <a:defRPr sz="1000">
                <a:solidFill>
                  <a:srgbClr val="B2DFDB"/>
                </a:solidFill>
                <a:latin typeface="Inter"/>
              </a:defRPr>
            </a:pPr>
            <a:r>
              <a:t>Pan-India data-driven national campus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🤝 STRATEGIC PARTNERS &amp; ECOSYSTEM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Microsoft (Cloud &amp; AI Integration)</a:t>
            </a:r>
            <a:br/>
            <a:r>
              <a:t>• Supabase (Database Infrastructure)</a:t>
            </a:r>
            <a:br/>
            <a:r>
              <a:t>• Google Gemini AI &amp; Leaflet GIS</a:t>
            </a:r>
            <a:br/>
            <a:r>
              <a:t>• MeitY &amp; ISRO (Geospatial Data)</a:t>
            </a:r>
            <a:br/>
            <a:r>
              <a:t>• Academic Institutions &amp; Environmental NGOs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00FF66"/>
                </a:solidFill>
              </a:defRPr>
            </a:pPr>
            <a:r>
              <a:t>🚀 FUTURE EXPANSION MODULES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Smart Parking: Real-time IoT slot tracking to reduce vehicle emissions.</a:t>
            </a:r>
            <a:br/>
            <a:r>
              <a:t>• Carbon Tracking: Live emissions dashboard &amp; Net-Zero targets.</a:t>
            </a:r>
            <a:br/>
            <a:r>
              <a:t>• Digital Twin Campus: 3D virtual replica for predictive maintenance simulation.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oppins"/>
              </a:defRPr>
            </a:pPr>
            <a:r>
              <a:t>Slide 8  |  Risks, AI Tools &amp; Conclusion</a:t>
            </a:r>
          </a:p>
          <a:p>
            <a:pPr>
              <a:spcBef>
                <a:spcPts val="300"/>
              </a:spcBef>
              <a:defRPr sz="1200">
                <a:solidFill>
                  <a:srgbClr val="00E5FF"/>
                </a:solidFill>
                <a:latin typeface="Inter"/>
              </a:defRPr>
            </a:pPr>
            <a:r>
              <a:t>Mitigation Governance, Key Learnings, and Project Accreditation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00FF66"/>
                </a:solidFill>
              </a:defRPr>
            </a:pPr>
            <a:r>
              <a:t>🛡️ RISKS &amp; MITIGATION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Data Privacy: End-to-end encryption &amp; RLS isolation.</a:t>
            </a:r>
            <a:br/>
            <a:r>
              <a:t>• Hardware Failure: Automated alerts &amp; regular telemetry checks.</a:t>
            </a:r>
            <a:br/>
            <a:r>
              <a:t>• Data Inaccuracy: Multi-source verification algorithms.</a:t>
            </a:r>
            <a:br/>
            <a:r>
              <a:t>• User Engagement: Gamified Eco-Points &amp; Leaderboards.</a:t>
            </a:r>
            <a:br/>
            <a:r>
              <a:t>• System Uptime: Scalable Vercel &amp; Supabase Cloud hosting.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201168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00E5FF"/>
                </a:solidFill>
              </a:defRPr>
            </a:pPr>
            <a:r>
              <a:t>📖 KEY LEARNINGS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Integrated AI, IoT, GIS &amp; Cloud for real-world impact.</a:t>
            </a:r>
            <a:br/>
            <a:r>
              <a:t>• Hands-on full-stack engineering &amp; state management.</a:t>
            </a:r>
            <a:br/>
            <a:r>
              <a:t>• Data-driven decision making for smart campus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657600"/>
            <a:ext cx="5212080" cy="2560320"/>
          </a:xfrm>
          <a:prstGeom prst="roundRect">
            <a:avLst/>
          </a:prstGeom>
          <a:solidFill>
            <a:srgbClr val="0E2A1F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00FF66"/>
                </a:solidFill>
              </a:defRPr>
            </a:pPr>
            <a:r>
              <a:t>✨ THANK YOU!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Together, let's build smarter, greener &amp; sustainable campuses.</a:t>
            </a:r>
          </a:p>
          <a:p>
            <a:pPr>
              <a:spcBef>
                <a:spcPts val="600"/>
              </a:spcBef>
              <a:defRPr sz="1000">
                <a:solidFill>
                  <a:srgbClr val="B2DFDB"/>
                </a:solidFill>
              </a:defRPr>
            </a:pPr>
            <a:r>
              <a:t>🌐 Live Site: https://green-verse-ai-smart-campus-sustain.vercel.app</a:t>
            </a:r>
            <a:br/>
            <a:r>
              <a:t>💻 GitHub: https://github.com/yashkumar5224/GreenVerse-AI-Smart-Campus-Sustainability-Maintenance-Platform.git</a:t>
            </a:r>
            <a:br/>
            <a:r>
              <a:t>👥 Team: Yash Kumar • Neha Kumari • Suraj Kumar • Utkarsh Raj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