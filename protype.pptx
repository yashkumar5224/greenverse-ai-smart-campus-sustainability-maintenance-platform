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6217920" cy="539496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0058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FF66"/>
                </a:solidFill>
                <a:latin typeface="Poppins"/>
              </a:defRPr>
            </a:pPr>
            <a:r>
              <a:t>🌿 GREENVERSE AI</a:t>
            </a:r>
          </a:p>
          <a:p>
            <a:pPr>
              <a:spcBef>
                <a:spcPts val="800"/>
              </a:spcBef>
              <a:defRPr sz="2200" b="1">
                <a:solidFill>
                  <a:srgbClr val="FFFFFF"/>
                </a:solidFill>
                <a:latin typeface="Poppins"/>
              </a:defRPr>
            </a:pPr>
            <a:r>
              <a:t>AI-IoT Smart Campus Sustainability System</a:t>
            </a:r>
          </a:p>
          <a:p>
            <a:pPr>
              <a:spcBef>
                <a:spcPts val="1000"/>
              </a:spcBef>
              <a:defRPr sz="1200">
                <a:solidFill>
                  <a:srgbClr val="B2DFDB"/>
                </a:solidFill>
                <a:latin typeface="Inter"/>
              </a:defRPr>
            </a:pPr>
            <a:r>
              <a:t>Empowering Educational Institutions with Artificial Intelligence, IoT Telemetry, GIS Mapping &amp; Renewable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4114800"/>
            <a:ext cx="2743200" cy="16459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900" b="1">
                <a:solidFill>
                  <a:srgbClr val="00E5FF"/>
                </a:solidFill>
              </a:defRPr>
            </a:pPr>
            <a:r>
              <a:t>INSTITUTION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SPNREC Araria (Bihar)</a:t>
            </a:r>
            <a:br/>
            <a:r>
              <a:t>BEU Patna Affiliated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4114800"/>
            <a:ext cx="2743200" cy="16459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900" b="1">
                <a:solidFill>
                  <a:srgbClr val="00E5FF"/>
                </a:solidFill>
              </a:defRPr>
            </a:pPr>
            <a:r>
              <a:t>INTERNSHIP SPONSOR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1M1B Applied AI Initiative</a:t>
            </a:r>
            <a:br/>
            <a:r>
              <a:t>(Microsoft Supported)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731520"/>
            <a:ext cx="4297680" cy="539496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d_smart_camp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822960"/>
            <a:ext cx="4114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oppins"/>
              </a:defRPr>
            </a:pPr>
            <a:r>
              <a:t>PROBLEM STATEMENT</a:t>
            </a:r>
          </a:p>
          <a:p>
            <a:pPr>
              <a:spcBef>
                <a:spcPts val="400"/>
              </a:spcBef>
              <a:defRPr sz="1300">
                <a:solidFill>
                  <a:srgbClr val="00E5FF"/>
                </a:solidFill>
                <a:latin typeface="Inter"/>
              </a:defRPr>
            </a:pPr>
            <a:r>
              <a:t>Key Sustainability &amp; Operational Challenges in Campuses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0FF66"/>
                </a:solidFill>
                <a:latin typeface="Poppins"/>
              </a:defRPr>
            </a:pPr>
            <a:r>
              <a:t>🗑️ Waste Management</a:t>
            </a:r>
          </a:p>
          <a:p>
            <a:pPr>
              <a:spcBef>
                <a:spcPts val="1400"/>
              </a:spcBef>
              <a:defRPr sz="1200">
                <a:solidFill>
                  <a:srgbClr val="B2DFDB"/>
                </a:solidFill>
                <a:latin typeface="Inter"/>
              </a:defRPr>
            </a:pPr>
            <a:r>
              <a:t>Manual bin inspections lead to overflow, littering, and unhygienic campus environments.</a:t>
            </a:r>
          </a:p>
          <a:p>
            <a:pPr>
              <a:spcBef>
                <a:spcPts val="2400"/>
              </a:spcBef>
              <a:defRPr sz="1800" b="1">
                <a:solidFill>
                  <a:srgbClr val="00E5FF"/>
                </a:solidFill>
                <a:latin typeface="Montserrat"/>
              </a:defRPr>
            </a:pPr>
            <a:r>
              <a:t>85% Overflow 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0FF66"/>
                </a:solidFill>
                <a:latin typeface="Poppins"/>
              </a:defRPr>
            </a:pPr>
            <a:r>
              <a:t>⚡ Energy Consumption</a:t>
            </a:r>
          </a:p>
          <a:p>
            <a:pPr>
              <a:spcBef>
                <a:spcPts val="1400"/>
              </a:spcBef>
              <a:defRPr sz="1200">
                <a:solidFill>
                  <a:srgbClr val="B2DFDB"/>
                </a:solidFill>
                <a:latin typeface="Inter"/>
              </a:defRPr>
            </a:pPr>
            <a:r>
              <a:t>Unmonitored HVAC and lighting lead to massive grid power waste and operational costs.</a:t>
            </a:r>
          </a:p>
          <a:p>
            <a:pPr>
              <a:spcBef>
                <a:spcPts val="2400"/>
              </a:spcBef>
              <a:defRPr sz="1800" b="1">
                <a:solidFill>
                  <a:srgbClr val="00E5FF"/>
                </a:solidFill>
                <a:latin typeface="Montserrat"/>
              </a:defRPr>
            </a:pPr>
            <a:r>
              <a:t>40% Power Wasted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0FF66"/>
                </a:solidFill>
                <a:latin typeface="Poppins"/>
              </a:defRPr>
            </a:pPr>
            <a:r>
              <a:t>💧 Water Wastage</a:t>
            </a:r>
          </a:p>
          <a:p>
            <a:pPr>
              <a:spcBef>
                <a:spcPts val="1400"/>
              </a:spcBef>
              <a:defRPr sz="1200">
                <a:solidFill>
                  <a:srgbClr val="B2DFDB"/>
                </a:solidFill>
                <a:latin typeface="Inter"/>
              </a:defRPr>
            </a:pPr>
            <a:r>
              <a:t>Undetected pipe leaks and overhead tank overflows waste thousands of liters daily.</a:t>
            </a:r>
          </a:p>
          <a:p>
            <a:pPr>
              <a:spcBef>
                <a:spcPts val="2400"/>
              </a:spcBef>
              <a:defRPr sz="1800" b="1">
                <a:solidFill>
                  <a:srgbClr val="00E5FF"/>
                </a:solidFill>
                <a:latin typeface="Montserrat"/>
              </a:defRPr>
            </a:pPr>
            <a:r>
              <a:t>45,000L Lost/Mo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0FF66"/>
                </a:solidFill>
                <a:latin typeface="Poppins"/>
              </a:defRPr>
            </a:pPr>
            <a:r>
              <a:t>🌿 Carbon Emissions</a:t>
            </a:r>
          </a:p>
          <a:p>
            <a:pPr>
              <a:spcBef>
                <a:spcPts val="1400"/>
              </a:spcBef>
              <a:defRPr sz="1200">
                <a:solidFill>
                  <a:srgbClr val="B2DFDB"/>
                </a:solidFill>
                <a:latin typeface="Inter"/>
              </a:defRPr>
            </a:pPr>
            <a:r>
              <a:t>High reliance on non-renewable grid energy increases campus carbon footprints.</a:t>
            </a:r>
          </a:p>
          <a:p>
            <a:pPr>
              <a:spcBef>
                <a:spcPts val="2400"/>
              </a:spcBef>
              <a:defRPr sz="1800" b="1">
                <a:solidFill>
                  <a:srgbClr val="00E5FF"/>
                </a:solidFill>
                <a:latin typeface="Montserrat"/>
              </a:defRPr>
            </a:pPr>
            <a:r>
              <a:t>High ESG Deficit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oppins"/>
              </a:defRPr>
            </a:pPr>
            <a:r>
              <a:t>OUR SOLUTION</a:t>
            </a:r>
          </a:p>
          <a:p>
            <a:pPr>
              <a:spcBef>
                <a:spcPts val="400"/>
              </a:spcBef>
              <a:defRPr sz="1300">
                <a:solidFill>
                  <a:srgbClr val="00E5FF"/>
                </a:solidFill>
                <a:latin typeface="Inter"/>
              </a:defRPr>
            </a:pPr>
            <a:r>
              <a:t>Central AI Engine Connecting Campus IoT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0"/>
          <a:lstStyle/>
          <a:p>
            <a:pPr algn="ctr">
              <a:defRPr sz="1500" b="1">
                <a:solidFill>
                  <a:srgbClr val="00FF66"/>
                </a:solidFill>
                <a:latin typeface="Poppins"/>
              </a:defRPr>
            </a:pPr>
            <a:r>
              <a:t>🤖 GREENVERSE AI ENGINE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• Google Gemini AI Analysis</a:t>
            </a:r>
            <a:br/>
            <a:r>
              <a:t>• Realtime Sensor Streams</a:t>
            </a:r>
            <a:br/>
            <a:r>
              <a:t>• Auto Defect Work Orders</a:t>
            </a:r>
            <a:br/>
            <a:r>
              <a:t>• Carbon Offset Audit</a:t>
            </a:r>
          </a:p>
        </p:txBody>
      </p:sp>
      <p:pic>
        <p:nvPicPr>
          <p:cNvPr id="4" name="Picture 3" descr="3d_ai_b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37360"/>
            <a:ext cx="3200400" cy="2011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3200400" cy="219456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0E5FF"/>
                </a:solidFill>
                <a:latin typeface="Poppins"/>
              </a:defRPr>
            </a:pPr>
            <a:r>
              <a:t>🗑️ Smart Bins</a:t>
            </a:r>
          </a:p>
          <a:p>
            <a:pPr>
              <a:spcBef>
                <a:spcPts val="800"/>
              </a:spcBef>
              <a:defRPr sz="1100">
                <a:solidFill>
                  <a:srgbClr val="B2DFDB"/>
                </a:solidFill>
              </a:defRPr>
            </a:pPr>
            <a:r>
              <a:t>Connected via ESP32 WiFi Mesh</a:t>
            </a:r>
            <a:br/>
            <a:r>
              <a:t>Streaming live telemetry data 24/7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3200400" cy="219456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0E5FF"/>
                </a:solidFill>
                <a:latin typeface="Poppins"/>
              </a:defRPr>
            </a:pPr>
            <a:r>
              <a:t>💧 Water Tanks</a:t>
            </a:r>
          </a:p>
          <a:p>
            <a:pPr>
              <a:spcBef>
                <a:spcPts val="800"/>
              </a:spcBef>
              <a:defRPr sz="1100">
                <a:solidFill>
                  <a:srgbClr val="B2DFDB"/>
                </a:solidFill>
              </a:defRPr>
            </a:pPr>
            <a:r>
              <a:t>Connected via ESP32 WiFi Mesh</a:t>
            </a:r>
            <a:br/>
            <a:r>
              <a:t>Streaming live telemetry data 24/7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00400" cy="219456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0E5FF"/>
                </a:solidFill>
                <a:latin typeface="Poppins"/>
              </a:defRPr>
            </a:pPr>
            <a:r>
              <a:t>⚡ 250kW Solar</a:t>
            </a:r>
          </a:p>
          <a:p>
            <a:pPr>
              <a:spcBef>
                <a:spcPts val="800"/>
              </a:spcBef>
              <a:defRPr sz="1100">
                <a:solidFill>
                  <a:srgbClr val="B2DFDB"/>
                </a:solidFill>
              </a:defRPr>
            </a:pPr>
            <a:r>
              <a:t>Connected via ESP32 WiFi Mesh</a:t>
            </a:r>
            <a:br/>
            <a:r>
              <a:t>Streaming live telemetry data 24/7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023360"/>
            <a:ext cx="3200400" cy="219456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0E5FF"/>
                </a:solidFill>
                <a:latin typeface="Poppins"/>
              </a:defRPr>
            </a:pPr>
            <a:r>
              <a:t>📍 GIS Campus Map</a:t>
            </a:r>
          </a:p>
          <a:p>
            <a:pPr>
              <a:spcBef>
                <a:spcPts val="800"/>
              </a:spcBef>
              <a:defRPr sz="1100">
                <a:solidFill>
                  <a:srgbClr val="B2DFDB"/>
                </a:solidFill>
              </a:defRPr>
            </a:pPr>
            <a:r>
              <a:t>Connected via ESP32 WiFi Mesh</a:t>
            </a:r>
            <a:br/>
            <a:r>
              <a:t>Streaming live telemetry data 24/7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oppins"/>
              </a:defRPr>
            </a:pPr>
            <a:r>
              <a:t>SYSTEM ARCHITECTURE FLOW</a:t>
            </a:r>
          </a:p>
          <a:p>
            <a:pPr>
              <a:spcBef>
                <a:spcPts val="400"/>
              </a:spcBef>
              <a:defRPr sz="1300">
                <a:solidFill>
                  <a:srgbClr val="00E5FF"/>
                </a:solidFill>
                <a:latin typeface="Inter"/>
              </a:defRPr>
            </a:pPr>
            <a:r>
              <a:t>End-to-End Data Pipeline from Hardware Sensors to Mobile &amp; Control Center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d_iot_senso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310896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297680" y="1645920"/>
            <a:ext cx="219456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00FF66"/>
                </a:solidFill>
                <a:latin typeface="Poppins"/>
              </a:defRPr>
            </a:pPr>
            <a:r>
              <a:t>1. IoT Sensors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Smart Bins, Water Pressure, Solar 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645920"/>
            <a:ext cx="219456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00FF66"/>
                </a:solidFill>
                <a:latin typeface="Poppins"/>
              </a:defRPr>
            </a:pPr>
            <a:r>
              <a:t>2. ESP32 Edge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Microcontroller Data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645920"/>
            <a:ext cx="219456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00FF66"/>
                </a:solidFill>
                <a:latin typeface="Poppins"/>
              </a:defRPr>
            </a:pPr>
            <a:r>
              <a:t>3. WiFi Gateway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Encrypted Telemetry Transmission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931920"/>
            <a:ext cx="219456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00FF66"/>
                </a:solidFill>
                <a:latin typeface="Poppins"/>
              </a:defRPr>
            </a:pPr>
            <a:r>
              <a:t>4. Firebase/Supabase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Realtime Database &amp; Webhooks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931920"/>
            <a:ext cx="219456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00FF66"/>
                </a:solidFill>
                <a:latin typeface="Poppins"/>
              </a:defRPr>
            </a:pPr>
            <a:r>
              <a:t>5. Gemini AI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Defect Scanning &amp; Predictive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931920"/>
            <a:ext cx="219456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00FF66"/>
                </a:solidFill>
                <a:latin typeface="Poppins"/>
              </a:defRPr>
            </a:pPr>
            <a:r>
              <a:t>6. Control Center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Admin &amp; Staff Dispatch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oppins"/>
              </a:defRPr>
            </a:pPr>
            <a:r>
              <a:t>WORKING PROTOTYPE SHOWCASE</a:t>
            </a:r>
          </a:p>
          <a:p>
            <a:pPr>
              <a:spcBef>
                <a:spcPts val="400"/>
              </a:spcBef>
              <a:defRPr sz="1300">
                <a:solidFill>
                  <a:srgbClr val="00E5FF"/>
                </a:solidFill>
                <a:latin typeface="Inter"/>
              </a:defRPr>
            </a:pPr>
            <a:r>
              <a:t>Multi-Device Responsive Web App, GIS Map &amp; Mobile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0FF66"/>
                </a:solidFill>
              </a:defRPr>
            </a:pPr>
            <a:r>
              <a:t>💻 Desktop Executive Portal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Live GIS Campus Map with Leaflet</a:t>
            </a:r>
            <a:br/>
            <a:r>
              <a:t>• 13 Liquid Glass Feature Cards</a:t>
            </a:r>
            <a:br/>
            <a:r>
              <a:t>• Active Technician GPS Dispatching</a:t>
            </a:r>
            <a:br/>
            <a:r>
              <a:t>• Real-Time Sensor Alert Overlays</a:t>
            </a:r>
            <a:br/>
            <a:r>
              <a:t>• Carbon Reduction ESG Audits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0E5FF"/>
                </a:solidFill>
              </a:defRPr>
            </a:pPr>
            <a:r>
              <a:t>📱 Mobile Student &amp; Staff App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Instant Photo &amp; Audio Issue Reporting</a:t>
            </a:r>
            <a:br/>
            <a:r>
              <a:t>• Gemini AI Automatic Bounding Box Vision Scan</a:t>
            </a:r>
            <a:br/>
            <a:r>
              <a:t>• +50 Eco-Points Reward Leaderboard</a:t>
            </a:r>
            <a:br/>
            <a:r>
              <a:t>• GreenBot Voice Speech Assistant</a:t>
            </a:r>
            <a:br/>
            <a:r>
              <a:t>• Work Order Repair Photo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oppins"/>
              </a:defRPr>
            </a:pPr>
            <a:r>
              <a:t>TECHNOLOGY STACK</a:t>
            </a:r>
          </a:p>
          <a:p>
            <a:pPr>
              <a:spcBef>
                <a:spcPts val="400"/>
              </a:spcBef>
              <a:defRPr sz="1300">
                <a:solidFill>
                  <a:srgbClr val="00E5FF"/>
                </a:solidFill>
                <a:latin typeface="Inter"/>
              </a:defRPr>
            </a:pPr>
            <a:r>
              <a:t>Enterprise Software, Hardware, Machine Learning &amp; Cloud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0E5FF"/>
                </a:solidFill>
                <a:latin typeface="Poppins"/>
              </a:defRPr>
            </a:pPr>
            <a:r>
              <a:t>Frontend UI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Inter"/>
              </a:defRPr>
            </a:pPr>
            <a:r>
              <a:t>React 19, Vite 8, Tailwind CSS v4, Framer Motion, Leaflet GIS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0E5FF"/>
                </a:solidFill>
                <a:latin typeface="Poppins"/>
              </a:defRPr>
            </a:pPr>
            <a:r>
              <a:t>Backend &amp; Database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Inter"/>
              </a:defRPr>
            </a:pPr>
            <a:r>
              <a:t>Node.js, Supabase PostgreSQL, Realtime WebSockets, RLS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0E5FF"/>
                </a:solidFill>
                <a:latin typeface="Poppins"/>
              </a:defRPr>
            </a:pPr>
            <a:r>
              <a:t>AI &amp; Machine Learning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Inter"/>
              </a:defRPr>
            </a:pPr>
            <a:r>
              <a:t>Google Gemini AI, Computer Vision Defect Bounding Box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52120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0E5FF"/>
                </a:solidFill>
                <a:latin typeface="Poppins"/>
              </a:defRPr>
            </a:pPr>
            <a:r>
              <a:t>Hardware &amp; IoT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Inter"/>
              </a:defRPr>
            </a:pPr>
            <a:r>
              <a:t>ESP32 Microcontrollers, Ultrasonic Waste Sensors, Flow Telemetry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oppins"/>
              </a:defRPr>
            </a:pPr>
            <a:r>
              <a:t>10 CORE PLATFORM FEATURES</a:t>
            </a:r>
          </a:p>
          <a:p>
            <a:pPr>
              <a:spcBef>
                <a:spcPts val="400"/>
              </a:spcBef>
              <a:defRPr sz="1300">
                <a:solidFill>
                  <a:srgbClr val="00E5FF"/>
                </a:solidFill>
                <a:latin typeface="Inter"/>
              </a:defRPr>
            </a:pPr>
            <a:r>
              <a:t>Integrated SaaS Modules Powering Campus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1. Smart Waste Monitoring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07791" y="164592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2. Smart Water Monitoring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4064" y="164592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3. Solar Grid Telemetry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0336" y="164592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4. GIS Campus Radar Map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36608" y="164592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5. GreenBot AI Copilot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6. AI Vision Defect Scanner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402336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7. IoT Hardware Mesh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402336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8. Executive Sustainability HUD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402336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9. Green Rewards Leaderboard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402336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10. Cloud Edge Database Sync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oppins"/>
              </a:defRPr>
            </a:pPr>
            <a:r>
              <a:t>ADMIN CONTROL CENTER</a:t>
            </a:r>
          </a:p>
          <a:p>
            <a:pPr>
              <a:spcBef>
                <a:spcPts val="400"/>
              </a:spcBef>
              <a:defRPr sz="1300">
                <a:solidFill>
                  <a:srgbClr val="00E5FF"/>
                </a:solidFill>
                <a:latin typeface="Inter"/>
              </a:defRPr>
            </a:pPr>
            <a:r>
              <a:t>Role-Based Governance, Incident Tracking &amp; Sensor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70408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0FF66"/>
                </a:solidFill>
              </a:defRPr>
            </a:pPr>
            <a:r>
              <a:t>🛡️ Centralized Governance &amp; Facilities Oversight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Role-Based Access Control (RBAC): Isolated portals for Students, Maintenance Staff, and Administrators.</a:t>
            </a:r>
            <a:br/>
            <a:r>
              <a:t>• Real-Time Verification Pipeline: Technicians submit completion photos verified by admins before ticket resolution.</a:t>
            </a:r>
            <a:br/>
            <a:r>
              <a:t>• IoT Sensor Override &amp; Diagnostic Stream: Live control of ESP32 sensor threshold warnings.</a:t>
            </a:r>
            <a:br/>
            <a:r>
              <a:t>• User Directory &amp; Leaderboard Controls: Audit student points, badge allocations, and campus rankings.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d_ai_b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737360"/>
            <a:ext cx="32004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oppins"/>
              </a:defRPr>
            </a:pPr>
            <a:r>
              <a:t>MEASURED RESULTS &amp; SUSTAINABILITY KPIS</a:t>
            </a:r>
          </a:p>
          <a:p>
            <a:pPr>
              <a:spcBef>
                <a:spcPts val="400"/>
              </a:spcBef>
              <a:defRPr sz="1300">
                <a:solidFill>
                  <a:srgbClr val="00E5FF"/>
                </a:solidFill>
                <a:latin typeface="Inter"/>
              </a:defRPr>
            </a:pPr>
            <a:r>
              <a:t>Quantifiable Environmental &amp; Financial Impact Across Campus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4000" b="1">
                <a:solidFill>
                  <a:srgbClr val="00FF66"/>
                </a:solidFill>
                <a:latin typeface="Montserrat"/>
              </a:defRPr>
            </a:pPr>
            <a:r>
              <a:t>40%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Poppins"/>
              </a:defRPr>
            </a:pPr>
            <a:r>
              <a:t>Water Saving</a:t>
            </a:r>
          </a:p>
          <a:p>
            <a:pPr>
              <a:spcBef>
                <a:spcPts val="1400"/>
              </a:spcBef>
              <a:defRPr sz="1100">
                <a:solidFill>
                  <a:srgbClr val="B2DFDB"/>
                </a:solidFill>
                <a:latin typeface="Inter"/>
              </a:defRPr>
            </a:pPr>
            <a:r>
              <a:t>Recycled Greywater &amp; Leak Repairs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4000" b="1">
                <a:solidFill>
                  <a:srgbClr val="00FF66"/>
                </a:solidFill>
                <a:latin typeface="Montserrat"/>
              </a:defRPr>
            </a:pPr>
            <a:r>
              <a:t>35%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Poppins"/>
              </a:defRPr>
            </a:pPr>
            <a:r>
              <a:t>Energy Saving</a:t>
            </a:r>
          </a:p>
          <a:p>
            <a:pPr>
              <a:spcBef>
                <a:spcPts val="1400"/>
              </a:spcBef>
              <a:defRPr sz="1100">
                <a:solidFill>
                  <a:srgbClr val="B2DFDB"/>
                </a:solidFill>
                <a:latin typeface="Inter"/>
              </a:defRPr>
            </a:pPr>
            <a:r>
              <a:t>250kW Solar Grid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4000" b="1">
                <a:solidFill>
                  <a:srgbClr val="00FF66"/>
                </a:solidFill>
                <a:latin typeface="Montserrat"/>
              </a:defRPr>
            </a:pPr>
            <a:r>
              <a:t>50%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Poppins"/>
              </a:defRPr>
            </a:pPr>
            <a:r>
              <a:t>Better Waste</a:t>
            </a:r>
          </a:p>
          <a:p>
            <a:pPr>
              <a:spcBef>
                <a:spcPts val="1400"/>
              </a:spcBef>
              <a:defRPr sz="1100">
                <a:solidFill>
                  <a:srgbClr val="B2DFDB"/>
                </a:solidFill>
                <a:latin typeface="Inter"/>
              </a:defRPr>
            </a:pPr>
            <a:r>
              <a:t>Smart Bin Overflow Prevention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4000" b="1">
                <a:solidFill>
                  <a:srgbClr val="00FF66"/>
                </a:solidFill>
                <a:latin typeface="Montserrat"/>
              </a:defRPr>
            </a:pPr>
            <a:r>
              <a:t>25%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Poppins"/>
              </a:defRPr>
            </a:pPr>
            <a:r>
              <a:t>Cost Reduction</a:t>
            </a:r>
          </a:p>
          <a:p>
            <a:pPr>
              <a:spcBef>
                <a:spcPts val="1400"/>
              </a:spcBef>
              <a:defRPr sz="1100">
                <a:solidFill>
                  <a:srgbClr val="B2DFDB"/>
                </a:solidFill>
                <a:latin typeface="Inter"/>
              </a:defRPr>
            </a:pPr>
            <a:r>
              <a:t>Lower Facilities Maintenance Costs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oppins"/>
              </a:defRPr>
            </a:pPr>
            <a:r>
              <a:t>FUTURE SCOPE &amp; DEPLOYMENT ROADMAP</a:t>
            </a:r>
          </a:p>
          <a:p>
            <a:pPr>
              <a:spcBef>
                <a:spcPts val="400"/>
              </a:spcBef>
              <a:defRPr sz="1300">
                <a:solidFill>
                  <a:srgbClr val="00E5FF"/>
                </a:solidFill>
                <a:latin typeface="Inter"/>
              </a:defRPr>
            </a:pPr>
            <a:r>
              <a:t>Strategic Growth Path from SPNREC Pilot to National Network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011680" cy="34747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400" b="1">
                <a:solidFill>
                  <a:srgbClr val="00E5FF"/>
                </a:solidFill>
                <a:latin typeface="Montserrat"/>
              </a:defRPr>
            </a:pPr>
            <a:r>
              <a:t>2026</a:t>
            </a:r>
          </a:p>
          <a:p>
            <a:pPr>
              <a:spcBef>
                <a:spcPts val="1400"/>
              </a:spcBef>
              <a:defRPr sz="1300" b="1">
                <a:solidFill>
                  <a:srgbClr val="FFFFFF"/>
                </a:solidFill>
                <a:latin typeface="Poppins"/>
              </a:defRPr>
            </a:pPr>
            <a:r>
              <a:t>AI Prediction &amp; SPNREC 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07791" y="2011680"/>
            <a:ext cx="2011680" cy="34747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400" b="1">
                <a:solidFill>
                  <a:srgbClr val="00E5FF"/>
                </a:solidFill>
                <a:latin typeface="Montserrat"/>
              </a:defRPr>
            </a:pPr>
            <a:r>
              <a:t>2027</a:t>
            </a:r>
          </a:p>
          <a:p>
            <a:pPr>
              <a:spcBef>
                <a:spcPts val="1400"/>
              </a:spcBef>
              <a:defRPr sz="1300" b="1">
                <a:solidFill>
                  <a:srgbClr val="FFFFFF"/>
                </a:solidFill>
                <a:latin typeface="Poppins"/>
              </a:defRPr>
            </a:pPr>
            <a:r>
              <a:t>Computer Vision &amp; District Colleges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4064" y="2011680"/>
            <a:ext cx="2011680" cy="34747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400" b="1">
                <a:solidFill>
                  <a:srgbClr val="00E5FF"/>
                </a:solidFill>
                <a:latin typeface="Montserrat"/>
              </a:defRPr>
            </a:pPr>
            <a:r>
              <a:t>2028</a:t>
            </a:r>
          </a:p>
          <a:p>
            <a:pPr>
              <a:spcBef>
                <a:spcPts val="1400"/>
              </a:spcBef>
              <a:defRPr sz="1300" b="1">
                <a:solidFill>
                  <a:srgbClr val="FFFFFF"/>
                </a:solidFill>
                <a:latin typeface="Poppins"/>
              </a:defRPr>
            </a:pPr>
            <a:r>
              <a:t>Autonomous Drone Campus Inspection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0336" y="2011680"/>
            <a:ext cx="2011680" cy="34747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400" b="1">
                <a:solidFill>
                  <a:srgbClr val="00E5FF"/>
                </a:solidFill>
                <a:latin typeface="Montserrat"/>
              </a:defRPr>
            </a:pPr>
            <a:r>
              <a:t>2029</a:t>
            </a:r>
          </a:p>
          <a:p>
            <a:pPr>
              <a:spcBef>
                <a:spcPts val="1400"/>
              </a:spcBef>
              <a:defRPr sz="1300" b="1">
                <a:solidFill>
                  <a:srgbClr val="FFFFFF"/>
                </a:solidFill>
                <a:latin typeface="Poppins"/>
              </a:defRPr>
            </a:pPr>
            <a:r>
              <a:t>Digital Twin Campus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36608" y="2011680"/>
            <a:ext cx="2011680" cy="34747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400" b="1">
                <a:solidFill>
                  <a:srgbClr val="00E5FF"/>
                </a:solidFill>
                <a:latin typeface="Montserrat"/>
              </a:defRPr>
            </a:pPr>
            <a:r>
              <a:t>2030</a:t>
            </a:r>
          </a:p>
          <a:p>
            <a:pPr>
              <a:spcBef>
                <a:spcPts val="1400"/>
              </a:spcBef>
              <a:defRPr sz="1300" b="1">
                <a:solidFill>
                  <a:srgbClr val="FFFFFF"/>
                </a:solidFill>
                <a:latin typeface="Poppins"/>
              </a:defRPr>
            </a:pPr>
            <a:r>
              <a:t>National Net-Zero Campus Mesh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oppins"/>
              </a:defRPr>
            </a:pPr>
            <a:r>
              <a:t>MULTI-DIMENSIONAL IMPACT MATRIX</a:t>
            </a:r>
          </a:p>
          <a:p>
            <a:pPr>
              <a:spcBef>
                <a:spcPts val="400"/>
              </a:spcBef>
              <a:defRPr sz="1300">
                <a:solidFill>
                  <a:srgbClr val="00E5FF"/>
                </a:solidFill>
                <a:latin typeface="Inter"/>
              </a:defRPr>
            </a:pPr>
            <a:r>
              <a:t>Transforming Educational Institutions Across Key Sectors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0FF66"/>
                </a:solidFill>
                <a:latin typeface="Poppins"/>
              </a:defRPr>
            </a:pPr>
            <a:r>
              <a:t>🌿 Environmental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Reduced carbon footprint, zero waste overflow, water conservation.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0FF66"/>
                </a:solidFill>
                <a:latin typeface="Poppins"/>
              </a:defRPr>
            </a:pPr>
            <a:r>
              <a:t>💰 Economic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25% lower facilities maintenance costs, lower electricity grid bills.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0FF66"/>
                </a:solidFill>
                <a:latin typeface="Poppins"/>
              </a:defRPr>
            </a:pPr>
            <a:r>
              <a:t>👥 Social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Active student civic engagement, clean and healthy campus grounds.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33832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0FF66"/>
                </a:solidFill>
                <a:latin typeface="Poppins"/>
              </a:defRPr>
            </a:pPr>
            <a:r>
              <a:t>🎓 Educational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Living research laboratory for engineering students &amp; green skills.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023360"/>
            <a:ext cx="33832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0FF66"/>
                </a:solidFill>
                <a:latin typeface="Poppins"/>
              </a:defRPr>
            </a:pPr>
            <a:r>
              <a:t>⚙️ Technological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Scalable IoT edge architecture, Google Gemini AI integration.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023360"/>
            <a:ext cx="33832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0FF66"/>
                </a:solidFill>
                <a:latin typeface="Poppins"/>
              </a:defRPr>
            </a:pPr>
            <a:r>
              <a:t>🏛️ Government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Supports Bihar DST green campus targets &amp; Microsoft ESG goals.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6858000" cy="539496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3600" b="1">
                <a:solidFill>
                  <a:srgbClr val="00FF66"/>
                </a:solidFill>
                <a:latin typeface="Poppins"/>
              </a:defRPr>
            </a:pPr>
            <a:r>
              <a:t>THANK YOU!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Poppins"/>
              </a:defRPr>
            </a:pPr>
            <a:r>
              <a:t>Building Smarter, Greener &amp; Sustainable Campuses with AI + IoT</a:t>
            </a:r>
          </a:p>
          <a:p>
            <a:pPr>
              <a:spcBef>
                <a:spcPts val="1200"/>
              </a:spcBef>
              <a:defRPr sz="1100">
                <a:solidFill>
                  <a:srgbClr val="B2DFDB"/>
                </a:solidFill>
                <a:latin typeface="Inter"/>
              </a:defRPr>
            </a:pPr>
            <a:r>
              <a:t>🌐 Live Website: https://green-verse-ai-smart-campus-sustain.vercel.app</a:t>
            </a:r>
            <a:br/>
            <a:r>
              <a:t>💻 GitHub: https://github.com/yashkumar5224/GreenVerse-AI-Smart-Campus-Sustainability-Maintenance-Platform.git</a:t>
            </a:r>
            <a:br/>
            <a:r>
              <a:t>🏛️ Institution: Shri Phanishwar Nath Renu Engineering College (SPNREC), Araria</a:t>
            </a:r>
            <a:br/>
            <a:r>
              <a:t>🏅 Internship: 1M1B Applied AI Initiative (Microsoft Supported)</a:t>
            </a:r>
            <a:br/>
            <a:r>
              <a:t>👥 Team: Sustainability Green Warriors (Yash Kumar, Neha, Suraj, Utkarsh)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63840" y="731520"/>
            <a:ext cx="3566160" cy="539496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d_smart_camp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822960"/>
            <a:ext cx="3383280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